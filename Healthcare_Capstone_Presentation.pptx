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85800" y="1371600"/>
            <a:ext cx="73152" cy="41148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10058400" cy="24776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D9488"/>
                </a:solidFill>
                <a:latin typeface="Calibri"/>
              </a:defRPr>
            </a:pPr>
            <a:r>
              <a:rPr dirty="0"/>
              <a:t>GRADED DESIGN WALKTHROUGH</a:t>
            </a:r>
          </a:p>
          <a:p>
            <a:pPr>
              <a:spcAft>
                <a:spcPts val="1200"/>
              </a:spcAft>
              <a:defRPr sz="3600" b="1">
                <a:solidFill>
                  <a:srgbClr val="FFFFFF"/>
                </a:solidFill>
                <a:latin typeface="Georgia"/>
              </a:defRPr>
            </a:pPr>
            <a:r>
              <a:rPr dirty="0"/>
              <a:t>Hospital Operations &amp; Revenue Risk Intelligence Platform</a:t>
            </a:r>
          </a:p>
          <a:p>
            <a:pPr>
              <a:spcAft>
                <a:spcPts val="2800"/>
              </a:spcAft>
              <a:defRPr sz="1800">
                <a:solidFill>
                  <a:srgbClr val="CBD5E1"/>
                </a:solidFill>
                <a:latin typeface="Calibri"/>
              </a:defRPr>
            </a:pPr>
            <a:r>
              <a:rPr dirty="0"/>
              <a:t>IIT Madras Applied AI and ML Capstone Project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rPr dirty="0"/>
              <a:t>Author: Yuvaraju D  |  IIT Madras </a:t>
            </a:r>
            <a:r>
              <a:rPr lang="en-US" dirty="0"/>
              <a:t>- </a:t>
            </a:r>
            <a:r>
              <a:rPr dirty="0"/>
              <a:t>Capstone </a:t>
            </a:r>
            <a:r>
              <a:rPr lang="en-US" dirty="0"/>
              <a:t>Project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1735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B365D"/>
                </a:solidFill>
                <a:latin typeface="Calibri"/>
              </a:defRPr>
            </a:pPr>
            <a:r>
              <a:t>WHY THIS PLATFORM EXISTS</a:t>
            </a:r>
          </a:p>
          <a:p>
            <a:pPr>
              <a:defRPr sz="2500" b="1">
                <a:solidFill>
                  <a:srgbClr val="0F172A"/>
                </a:solidFill>
                <a:latin typeface="Georgia"/>
              </a:defRPr>
            </a:pPr>
            <a:r>
              <a:t>Three challenges draining the hospital network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43000"/>
            <a:ext cx="1081735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554480"/>
            <a:ext cx="3291840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434840" y="1554480"/>
            <a:ext cx="3291840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183879" y="1554480"/>
            <a:ext cx="3291840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274320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F172A"/>
                </a:solidFill>
                <a:latin typeface="Calibri"/>
              </a:defRPr>
            </a:pPr>
            <a:r>
              <a:t>Patient-flow inefficiency</a:t>
            </a:r>
          </a:p>
          <a:p>
            <a:pPr>
              <a:spcAft>
                <a:spcPts val="2600"/>
              </a:spcAft>
              <a:defRPr sz="1300" b="0">
                <a:solidFill>
                  <a:srgbClr val="334155"/>
                </a:solidFill>
                <a:latin typeface="Calibri"/>
              </a:defRPr>
            </a:pPr>
            <a:r>
              <a:t>Congestion, uneven length-of-stay, and resource misallocation across clinical departments.</a:t>
            </a:r>
          </a:p>
          <a:p>
            <a:pPr>
              <a:spcAft>
                <a:spcPts val="200"/>
              </a:spcAft>
              <a:defRPr sz="3400" b="1">
                <a:solidFill>
                  <a:srgbClr val="0D9488"/>
                </a:solidFill>
                <a:latin typeface="Calibri"/>
              </a:defRPr>
            </a:pPr>
            <a:r>
              <a:t>19.6 hrs</a:t>
            </a:r>
          </a:p>
          <a:p>
            <a:pPr>
              <a:spcAft>
                <a:spcPts val="0"/>
              </a:spcAft>
              <a:defRPr sz="1000" b="1">
                <a:solidFill>
                  <a:srgbClr val="64748B"/>
                </a:solidFill>
                <a:latin typeface="Calibri"/>
              </a:defRPr>
            </a:pPr>
            <a:r>
              <a:t>AVG LENGTH OF STAY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1828800"/>
            <a:ext cx="274320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F172A"/>
                </a:solidFill>
                <a:latin typeface="Calibri"/>
              </a:defRPr>
            </a:pPr>
            <a:r>
              <a:t>Revenue leakage</a:t>
            </a:r>
          </a:p>
          <a:p>
            <a:pPr>
              <a:spcAft>
                <a:spcPts val="2600"/>
              </a:spcAft>
              <a:defRPr sz="1300" b="0">
                <a:solidFill>
                  <a:srgbClr val="334155"/>
                </a:solidFill>
                <a:latin typeface="Calibri"/>
              </a:defRPr>
            </a:pPr>
            <a:r>
              <a:t>Insurance claims are rejected or under-approved, eroding earned revenue before it is ever collected.</a:t>
            </a:r>
          </a:p>
          <a:p>
            <a:pPr>
              <a:spcAft>
                <a:spcPts val="200"/>
              </a:spcAft>
              <a:defRPr sz="3400" b="1">
                <a:solidFill>
                  <a:srgbClr val="BE123C"/>
                </a:solidFill>
                <a:latin typeface="Calibri"/>
              </a:defRPr>
            </a:pPr>
            <a:r>
              <a:t>15.2%</a:t>
            </a:r>
          </a:p>
          <a:p>
            <a:pPr>
              <a:spcAft>
                <a:spcPts val="0"/>
              </a:spcAft>
              <a:defRPr sz="1000" b="1">
                <a:solidFill>
                  <a:srgbClr val="64748B"/>
                </a:solidFill>
                <a:latin typeface="Calibri"/>
              </a:defRPr>
            </a:pPr>
            <a:r>
              <a:t>OF CLAIMS REJECTED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58200" y="1828800"/>
            <a:ext cx="274320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F172A"/>
                </a:solidFill>
                <a:latin typeface="Calibri"/>
              </a:defRPr>
            </a:pPr>
            <a:r>
              <a:t>Delayed payments</a:t>
            </a:r>
          </a:p>
          <a:p>
            <a:pPr>
              <a:spcAft>
                <a:spcPts val="2600"/>
              </a:spcAft>
              <a:defRPr sz="1300" b="0">
                <a:solidFill>
                  <a:srgbClr val="334155"/>
                </a:solidFill>
                <a:latin typeface="Calibri"/>
              </a:defRPr>
            </a:pPr>
            <a:r>
              <a:t>Slow settlement of approved claims ties up working capital and weakens cash-flow predictability.</a:t>
            </a:r>
          </a:p>
          <a:p>
            <a:pPr>
              <a:spcAft>
                <a:spcPts val="200"/>
              </a:spcAft>
              <a:defRPr sz="3400" b="1">
                <a:solidFill>
                  <a:srgbClr val="D97706"/>
                </a:solidFill>
                <a:latin typeface="Calibri"/>
              </a:defRPr>
            </a:pPr>
            <a:r>
              <a:t>25.8%</a:t>
            </a:r>
          </a:p>
          <a:p>
            <a:pPr>
              <a:spcAft>
                <a:spcPts val="0"/>
              </a:spcAft>
              <a:defRPr sz="1000" b="1">
                <a:solidFill>
                  <a:srgbClr val="64748B"/>
                </a:solidFill>
                <a:latin typeface="Calibri"/>
              </a:defRPr>
            </a:pPr>
            <a:r>
              <a:t>BILLED-VS-APPROVED GAP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4983480"/>
            <a:ext cx="10817352" cy="128016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5120640"/>
            <a:ext cx="102412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50" b="1">
                <a:solidFill>
                  <a:srgbClr val="0D9488"/>
                </a:solidFill>
                <a:latin typeface="Calibri"/>
              </a:defRPr>
            </a:pPr>
            <a:r>
              <a:t>THE MISSION</a:t>
            </a:r>
          </a:p>
          <a:p>
            <a:pPr>
              <a:spcAft>
                <a:spcPts val="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Turn raw operational and financial data into a trustworthy intelligence layer that flags high-risk visits and at-risk claims early — serving administrators, doctors, and finance with one shared source of truth.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1735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B365D"/>
                </a:solidFill>
                <a:latin typeface="Calibri"/>
              </a:defRPr>
            </a:pPr>
            <a:r>
              <a:t>STRUCTURED DATA FOUNDATION</a:t>
            </a:r>
          </a:p>
          <a:p>
            <a:pPr>
              <a:defRPr sz="2500" b="1">
                <a:solidFill>
                  <a:srgbClr val="0F172A"/>
                </a:solidFill>
                <a:latin typeface="Georgia"/>
              </a:defRPr>
            </a:pPr>
            <a:r>
              <a:t>Phase 1: Relational Schema &amp; BI Analytics Layer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43000"/>
            <a:ext cx="1081735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463040"/>
            <a:ext cx="3474720" cy="4754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50" b="1">
                <a:solidFill>
                  <a:srgbClr val="0F172A"/>
                </a:solidFill>
                <a:latin typeface="Calibri"/>
              </a:defRPr>
            </a:pPr>
            <a:r>
              <a:t>Centralized Data Warehouse Architecture:</a:t>
            </a:r>
          </a:p>
          <a:p>
            <a:pPr>
              <a:spcAft>
                <a:spcPts val="1200"/>
              </a:spcAft>
              <a:defRPr sz="1300" b="0">
                <a:solidFill>
                  <a:srgbClr val="334155"/>
                </a:solidFill>
                <a:latin typeface="Calibri"/>
              </a:defRPr>
            </a:pPr>
            <a:r>
              <a:t>The local MySQL instance holds 25,000 unified transactions designed to enforce data consistency:</a:t>
            </a:r>
          </a:p>
          <a:p>
            <a:pPr>
              <a:spcAft>
                <a:spcPts val="200"/>
              </a:spcAft>
              <a:defRPr sz="1400" b="1">
                <a:solidFill>
                  <a:srgbClr val="0F172A"/>
                </a:solidFill>
                <a:latin typeface="Calibri"/>
              </a:defRPr>
            </a:pPr>
            <a:r>
              <a:t>• Primary &amp; Foreign Key Integrity:</a:t>
            </a:r>
          </a:p>
          <a:p>
            <a:pPr>
              <a:spcAft>
                <a:spcPts val="1000"/>
              </a:spcAft>
              <a:defRPr sz="1250" b="0">
                <a:solidFill>
                  <a:srgbClr val="64748B"/>
                </a:solidFill>
                <a:latin typeface="Calibri"/>
              </a:defRPr>
            </a:pPr>
            <a:r>
              <a:t>   Ensures logical mapping from demographics (Patients) to clinical stays (Visits) to invoicing (Billing).</a:t>
            </a:r>
          </a:p>
          <a:p>
            <a:pPr>
              <a:spcAft>
                <a:spcPts val="200"/>
              </a:spcAft>
              <a:defRPr sz="1400" b="1">
                <a:solidFill>
                  <a:srgbClr val="0F172A"/>
                </a:solidFill>
                <a:latin typeface="Calibri"/>
              </a:defRPr>
            </a:pPr>
            <a:r>
              <a:t>• Cascade Deletions &amp; Indexing:</a:t>
            </a:r>
          </a:p>
          <a:p>
            <a:pPr>
              <a:spcAft>
                <a:spcPts val="1000"/>
              </a:spcAft>
              <a:defRPr sz="1250" b="0">
                <a:solidFill>
                  <a:srgbClr val="64748B"/>
                </a:solidFill>
                <a:latin typeface="Calibri"/>
              </a:defRPr>
            </a:pPr>
            <a:r>
              <a:t>   Implements 'ON DELETE CASCADE' on visit_id to prevent orphaned transactions. Multi-column indexing on query keys ensures fast queries.</a:t>
            </a:r>
          </a:p>
          <a:p>
            <a:pPr>
              <a:spcAft>
                <a:spcPts val="200"/>
              </a:spcAft>
              <a:defRPr sz="1400" b="1">
                <a:solidFill>
                  <a:srgbClr val="0F172A"/>
                </a:solidFill>
                <a:latin typeface="Calibri"/>
              </a:defRPr>
            </a:pPr>
            <a:r>
              <a:t>• 15 Business Intelligence Queries:</a:t>
            </a:r>
          </a:p>
          <a:p>
            <a:pPr>
              <a:spcAft>
                <a:spcPts val="0"/>
              </a:spcAft>
              <a:defRPr sz="1250" b="0">
                <a:solidFill>
                  <a:srgbClr val="64748B"/>
                </a:solidFill>
                <a:latin typeface="Calibri"/>
              </a:defRPr>
            </a:pPr>
            <a:r>
              <a:t>   SQL scripts profile readmissions, length of stay, and provider rejection rates to identify targets.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737360"/>
            <a:ext cx="2112264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434840" y="1737360"/>
            <a:ext cx="2112264" cy="4114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44568" y="1828800"/>
            <a:ext cx="189280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PATIENTS (Anonymized)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44568" y="2240280"/>
            <a:ext cx="1892808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50" b="1">
                <a:solidFill>
                  <a:srgbClr val="0F172A"/>
                </a:solidFill>
                <a:latin typeface="Calibri"/>
              </a:defRPr>
            </a:pPr>
            <a:r>
              <a:t>🔑 patient_id (PK)</a:t>
            </a:r>
          </a:p>
          <a:p>
            <a:pPr>
              <a:spcAft>
                <a:spcPts val="300"/>
              </a:spcAft>
              <a:defRPr sz="950" b="0">
                <a:solidFill>
                  <a:srgbClr val="334155"/>
                </a:solidFill>
                <a:latin typeface="Calibri"/>
              </a:defRPr>
            </a:pPr>
            <a:r>
              <a:t>• Age (Numerical)</a:t>
            </a:r>
          </a:p>
          <a:p>
            <a:pPr>
              <a:spcAft>
                <a:spcPts val="300"/>
              </a:spcAft>
              <a:defRPr sz="950" b="0">
                <a:solidFill>
                  <a:srgbClr val="334155"/>
                </a:solidFill>
                <a:latin typeface="Calibri"/>
              </a:defRPr>
            </a:pPr>
            <a:r>
              <a:t>• Gender (Categorical)</a:t>
            </a:r>
          </a:p>
          <a:p>
            <a:pPr>
              <a:spcAft>
                <a:spcPts val="300"/>
              </a:spcAft>
              <a:defRPr sz="950" b="0">
                <a:solidFill>
                  <a:srgbClr val="334155"/>
                </a:solidFill>
                <a:latin typeface="Calibri"/>
              </a:defRPr>
            </a:pPr>
            <a:r>
              <a:t>• City (Categorical)</a:t>
            </a:r>
          </a:p>
          <a:p>
            <a:pPr>
              <a:spcAft>
                <a:spcPts val="300"/>
              </a:spcAft>
              <a:defRPr sz="950" b="0">
                <a:solidFill>
                  <a:srgbClr val="334155"/>
                </a:solidFill>
                <a:latin typeface="Calibri"/>
              </a:defRPr>
            </a:pPr>
            <a:r>
              <a:t>• Chronic_Flag (Binary)</a:t>
            </a:r>
          </a:p>
          <a:p>
            <a:pPr>
              <a:spcAft>
                <a:spcPts val="0"/>
              </a:spcAft>
              <a:defRPr sz="950" b="0">
                <a:solidFill>
                  <a:srgbClr val="334155"/>
                </a:solidFill>
                <a:latin typeface="Calibri"/>
              </a:defRPr>
            </a:pPr>
            <a:r>
              <a:t>• registration_date (Date)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12864" y="1554480"/>
            <a:ext cx="2112264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912864" y="1554480"/>
            <a:ext cx="2112264" cy="4114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022592" y="1645920"/>
            <a:ext cx="189280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VISITS (Clinical Stays)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22592" y="2057400"/>
            <a:ext cx="1892808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50" b="1">
                <a:solidFill>
                  <a:srgbClr val="0F172A"/>
                </a:solidFill>
                <a:latin typeface="Calibri"/>
              </a:defRPr>
            </a:pPr>
            <a:r>
              <a:t>🔑 visit_id (PK)</a:t>
            </a:r>
          </a:p>
          <a:p>
            <a:pPr>
              <a:spcAft>
                <a:spcPts val="400"/>
              </a:spcAft>
              <a:defRPr sz="950" b="1">
                <a:solidFill>
                  <a:srgbClr val="1B365D"/>
                </a:solidFill>
                <a:latin typeface="Calibri"/>
              </a:defRPr>
            </a:pPr>
            <a:r>
              <a:t>🔗 patient_id (FK -&gt; Patients)</a:t>
            </a:r>
          </a:p>
          <a:p>
            <a:pPr>
              <a:spcAft>
                <a:spcPts val="300"/>
              </a:spcAft>
              <a:defRPr sz="950" b="0">
                <a:solidFill>
                  <a:srgbClr val="334155"/>
                </a:solidFill>
                <a:latin typeface="Calibri"/>
              </a:defRPr>
            </a:pPr>
            <a:r>
              <a:t>• length_of_stay_hours (Num)</a:t>
            </a:r>
          </a:p>
          <a:p>
            <a:pPr>
              <a:spcAft>
                <a:spcPts val="300"/>
              </a:spcAft>
              <a:defRPr sz="950" b="0">
                <a:solidFill>
                  <a:srgbClr val="334155"/>
                </a:solidFill>
                <a:latin typeface="Calibri"/>
              </a:defRPr>
            </a:pPr>
            <a:r>
              <a:t>• clinical_department (Cat)</a:t>
            </a:r>
          </a:p>
          <a:p>
            <a:pPr>
              <a:spcAft>
                <a:spcPts val="300"/>
              </a:spcAft>
              <a:defRPr sz="950" b="0">
                <a:solidFill>
                  <a:srgbClr val="334155"/>
                </a:solidFill>
                <a:latin typeface="Calibri"/>
              </a:defRPr>
            </a:pPr>
            <a:r>
              <a:t>• visit_reason (Cat)</a:t>
            </a:r>
          </a:p>
          <a:p>
            <a:pPr>
              <a:spcAft>
                <a:spcPts val="300"/>
              </a:spcAft>
              <a:defRPr sz="950" b="0">
                <a:solidFill>
                  <a:srgbClr val="334155"/>
                </a:solidFill>
                <a:latin typeface="Calibri"/>
              </a:defRPr>
            </a:pPr>
            <a:r>
              <a:t>• visit_date (Date / Index)</a:t>
            </a:r>
          </a:p>
          <a:p>
            <a:pPr>
              <a:spcAft>
                <a:spcPts val="0"/>
              </a:spcAft>
              <a:defRPr sz="1050" b="1">
                <a:solidFill>
                  <a:srgbClr val="0D9488"/>
                </a:solidFill>
                <a:latin typeface="Calibri"/>
              </a:defRPr>
            </a:pPr>
            <a:r>
              <a:t>• risk_class (Target A)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90888" y="1737360"/>
            <a:ext cx="2112264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390888" y="1737360"/>
            <a:ext cx="2112264" cy="411480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500616" y="1828800"/>
            <a:ext cx="189280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BILLING (Claims Log)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0616" y="2240280"/>
            <a:ext cx="1892808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50" b="1">
                <a:solidFill>
                  <a:srgbClr val="0F172A"/>
                </a:solidFill>
                <a:latin typeface="Calibri"/>
              </a:defRPr>
            </a:pPr>
            <a:r>
              <a:t>🔑 bill_id (PK)</a:t>
            </a:r>
          </a:p>
          <a:p>
            <a:pPr>
              <a:spcAft>
                <a:spcPts val="400"/>
              </a:spcAft>
              <a:defRPr sz="950" b="1">
                <a:solidFill>
                  <a:srgbClr val="0D9488"/>
                </a:solidFill>
                <a:latin typeface="Calibri"/>
              </a:defRPr>
            </a:pPr>
            <a:r>
              <a:t>🔗 visit_id (FK -&gt; Visits)</a:t>
            </a:r>
          </a:p>
          <a:p>
            <a:pPr>
              <a:spcAft>
                <a:spcPts val="300"/>
              </a:spcAft>
              <a:defRPr sz="950" b="0">
                <a:solidFill>
                  <a:srgbClr val="334155"/>
                </a:solidFill>
                <a:latin typeface="Calibri"/>
              </a:defRPr>
            </a:pPr>
            <a:r>
              <a:t>• billed_amount (Numerical)</a:t>
            </a:r>
          </a:p>
          <a:p>
            <a:pPr>
              <a:spcAft>
                <a:spcPts val="300"/>
              </a:spcAft>
              <a:defRPr sz="950" b="0">
                <a:solidFill>
                  <a:srgbClr val="334155"/>
                </a:solidFill>
                <a:latin typeface="Calibri"/>
              </a:defRPr>
            </a:pPr>
            <a:r>
              <a:t>• approved_amount (Numerical)</a:t>
            </a:r>
          </a:p>
          <a:p>
            <a:pPr>
              <a:spcAft>
                <a:spcPts val="300"/>
              </a:spcAft>
              <a:defRPr sz="950" b="0">
                <a:solidFill>
                  <a:srgbClr val="334155"/>
                </a:solidFill>
                <a:latin typeface="Calibri"/>
              </a:defRPr>
            </a:pPr>
            <a:r>
              <a:t>• payment_days (Numerical)</a:t>
            </a:r>
          </a:p>
          <a:p>
            <a:pPr>
              <a:spcAft>
                <a:spcPts val="0"/>
              </a:spcAft>
              <a:defRPr sz="1050" b="1">
                <a:solidFill>
                  <a:srgbClr val="BE123C"/>
                </a:solidFill>
                <a:latin typeface="Calibri"/>
              </a:defRPr>
            </a:pPr>
            <a:r>
              <a:t>• claim_status (Target B)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6592824" y="2926080"/>
            <a:ext cx="274320" cy="201168"/>
          </a:xfrm>
          <a:prstGeom prst="rightArrow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ight Arrow 18"/>
          <p:cNvSpPr/>
          <p:nvPr/>
        </p:nvSpPr>
        <p:spPr>
          <a:xfrm>
            <a:off x="9070848" y="2926080"/>
            <a:ext cx="274320" cy="201168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1735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B365D"/>
                </a:solidFill>
                <a:latin typeface="Calibri"/>
              </a:defRPr>
            </a:pPr>
            <a:r>
              <a:t>SANITIZING OPERATIONAL SIGNALS</a:t>
            </a:r>
          </a:p>
          <a:p>
            <a:pPr>
              <a:defRPr sz="2500" b="1">
                <a:solidFill>
                  <a:srgbClr val="0F172A"/>
                </a:solidFill>
                <a:latin typeface="Georgia"/>
              </a:defRPr>
            </a:pPr>
            <a:r>
              <a:t>Phase 2: Exploratory Data Analysis &amp; Data Quality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43000"/>
            <a:ext cx="1081735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Chevron 4"/>
          <p:cNvSpPr/>
          <p:nvPr/>
        </p:nvSpPr>
        <p:spPr>
          <a:xfrm>
            <a:off x="685800" y="1463040"/>
            <a:ext cx="2601468" cy="1005840"/>
          </a:xfrm>
          <a:prstGeom prst="chevron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73152" rIns="73152" bIns="73152" rtlCol="0" anchor="ctr"/>
          <a:lstStyle/>
          <a:p>
            <a:pPr algn="ctr">
              <a:spcAft>
                <a:spcPts val="20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1. SQL INGESTION</a:t>
            </a:r>
          </a:p>
          <a:p>
            <a:pPr>
              <a:defRPr sz="850">
                <a:solidFill>
                  <a:srgbClr val="CBD5E1"/>
                </a:solidFill>
                <a:latin typeface="Calibri"/>
              </a:defRPr>
            </a:pPr>
            <a:r>
              <a:t>MySQL DB tables &amp; indices</a:t>
            </a:r>
          </a:p>
        </p:txBody>
      </p:sp>
      <p:sp>
        <p:nvSpPr>
          <p:cNvPr id="6" name="Chevron 5"/>
          <p:cNvSpPr/>
          <p:nvPr/>
        </p:nvSpPr>
        <p:spPr>
          <a:xfrm>
            <a:off x="3424428" y="1463040"/>
            <a:ext cx="2601468" cy="1005840"/>
          </a:xfrm>
          <a:prstGeom prst="chevron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73152" rIns="73152" bIns="73152" rtlCol="0" anchor="ctr"/>
          <a:lstStyle/>
          <a:p>
            <a:pPr algn="ctr">
              <a:spcAft>
                <a:spcPts val="20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2. DATA CLEANING</a:t>
            </a:r>
          </a:p>
          <a:p>
            <a:pPr>
              <a:defRPr sz="850">
                <a:solidFill>
                  <a:srgbClr val="CBD5E1"/>
                </a:solidFill>
                <a:latin typeface="Calibri"/>
              </a:defRPr>
            </a:pPr>
            <a:r>
              <a:t>Impute LOS &amp; outlier IQR</a:t>
            </a:r>
          </a:p>
        </p:txBody>
      </p:sp>
      <p:sp>
        <p:nvSpPr>
          <p:cNvPr id="7" name="Chevron 6"/>
          <p:cNvSpPr/>
          <p:nvPr/>
        </p:nvSpPr>
        <p:spPr>
          <a:xfrm>
            <a:off x="6163056" y="1463040"/>
            <a:ext cx="2601468" cy="1005840"/>
          </a:xfrm>
          <a:prstGeom prst="chevron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73152" rIns="73152" bIns="73152" rtlCol="0" anchor="ctr"/>
          <a:lstStyle/>
          <a:p>
            <a:pPr algn="ctr">
              <a:spcAft>
                <a:spcPts val="20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3. TEMPORAL SPLIT</a:t>
            </a:r>
          </a:p>
          <a:p>
            <a:pPr>
              <a:defRPr sz="850">
                <a:solidFill>
                  <a:srgbClr val="CBD5E1"/>
                </a:solidFill>
                <a:latin typeface="Calibri"/>
              </a:defRPr>
            </a:pPr>
            <a:r>
              <a:t>Chronological 80/20 train/test</a:t>
            </a:r>
          </a:p>
        </p:txBody>
      </p:sp>
      <p:sp>
        <p:nvSpPr>
          <p:cNvPr id="8" name="Chevron 7"/>
          <p:cNvSpPr/>
          <p:nvPr/>
        </p:nvSpPr>
        <p:spPr>
          <a:xfrm>
            <a:off x="8901684" y="1463040"/>
            <a:ext cx="2601468" cy="1005840"/>
          </a:xfrm>
          <a:prstGeom prst="chevron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73152" rIns="73152" bIns="73152" rtlCol="0" anchor="ctr"/>
          <a:lstStyle/>
          <a:p>
            <a:pPr algn="ctr">
              <a:spcAft>
                <a:spcPts val="20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4. FEATURE ENG.</a:t>
            </a:r>
          </a:p>
          <a:p>
            <a:pPr>
              <a:defRPr sz="850">
                <a:solidFill>
                  <a:srgbClr val="CBD5E1"/>
                </a:solidFill>
                <a:latin typeface="Calibri"/>
              </a:defRPr>
            </a:pPr>
            <a:r>
              <a:t>Patient history &amp; provider rates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697480"/>
            <a:ext cx="521208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291072" y="2697480"/>
            <a:ext cx="521208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2880360"/>
            <a:ext cx="4663440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50" b="1">
                <a:solidFill>
                  <a:srgbClr val="0F172A"/>
                </a:solidFill>
                <a:latin typeface="Calibri"/>
              </a:defRPr>
            </a:pPr>
            <a:r>
              <a:t>Data Profiling &amp; Quality Operations:</a:t>
            </a:r>
          </a:p>
          <a:p>
            <a:pPr>
              <a:spcAft>
                <a:spcPts val="200"/>
              </a:spcAft>
              <a:defRPr sz="1400" b="1">
                <a:solidFill>
                  <a:srgbClr val="0F172A"/>
                </a:solidFill>
                <a:latin typeface="Calibri"/>
              </a:defRPr>
            </a:pPr>
            <a:r>
              <a:t>• Imputing Clinical Missing Values:</a:t>
            </a:r>
          </a:p>
          <a:p>
            <a:pPr>
              <a:spcAft>
                <a:spcPts val="1000"/>
              </a:spcAft>
              <a:defRPr sz="1250" b="0">
                <a:solidFill>
                  <a:srgbClr val="64748B"/>
                </a:solidFill>
                <a:latin typeface="Calibri"/>
              </a:defRPr>
            </a:pPr>
            <a:r>
              <a:t>   Replaced 4,142 missing Length of Stay (LOS) records using departmental medians (e.g. Cardiology: 19.6h) rather than a global mean, preserving category variation.</a:t>
            </a:r>
          </a:p>
          <a:p>
            <a:pPr>
              <a:spcAft>
                <a:spcPts val="200"/>
              </a:spcAft>
              <a:defRPr sz="1400" b="1">
                <a:solidFill>
                  <a:srgbClr val="0F172A"/>
                </a:solidFill>
                <a:latin typeface="Calibri"/>
              </a:defRPr>
            </a:pPr>
            <a:r>
              <a:t>• Outlier Detection (Interquartile Range - IQR):</a:t>
            </a:r>
          </a:p>
          <a:p>
            <a:pPr>
              <a:spcAft>
                <a:spcPts val="1000"/>
              </a:spcAft>
              <a:defRPr sz="1250" b="0">
                <a:solidFill>
                  <a:srgbClr val="64748B"/>
                </a:solidFill>
                <a:latin typeface="Calibri"/>
              </a:defRPr>
            </a:pPr>
            <a:r>
              <a:t>   Identified stay lengths &gt; 65.5h and billed claims &gt; ₹85,000 as extreme statistical outliers, flagging them for operational audit.</a:t>
            </a:r>
          </a:p>
          <a:p>
            <a:pPr>
              <a:spcAft>
                <a:spcPts val="200"/>
              </a:spcAft>
              <a:defRPr sz="1400" b="1">
                <a:solidFill>
                  <a:srgbClr val="0F172A"/>
                </a:solidFill>
                <a:latin typeface="Calibri"/>
              </a:defRPr>
            </a:pPr>
            <a:r>
              <a:t>• Zero Filling Pending Claims:</a:t>
            </a:r>
          </a:p>
          <a:p>
            <a:pPr>
              <a:spcAft>
                <a:spcPts val="0"/>
              </a:spcAft>
              <a:defRPr sz="1250" b="0">
                <a:solidFill>
                  <a:srgbClr val="64748B"/>
                </a:solidFill>
                <a:latin typeface="Calibri"/>
              </a:defRPr>
            </a:pPr>
            <a:r>
              <a:t>   Standardized open/pending claims approved values to zero (instead of null) to ensure mathematical alignment in database aggregations.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5392" y="2880360"/>
            <a:ext cx="4663440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50" b="1">
                <a:solidFill>
                  <a:srgbClr val="0F172A"/>
                </a:solidFill>
                <a:latin typeface="Calibri"/>
              </a:defRPr>
            </a:pPr>
            <a:r>
              <a:t>Temporal Validation Split (Leakage Control):</a:t>
            </a:r>
          </a:p>
          <a:p>
            <a:pPr>
              <a:spcAft>
                <a:spcPts val="200"/>
              </a:spcAft>
              <a:defRPr sz="1400" b="1">
                <a:solidFill>
                  <a:srgbClr val="0F172A"/>
                </a:solidFill>
                <a:latin typeface="Calibri"/>
              </a:defRPr>
            </a:pPr>
            <a:r>
              <a:t>• Why Random Splits Fail in Healthcare Operations:</a:t>
            </a:r>
          </a:p>
          <a:p>
            <a:pPr>
              <a:spcAft>
                <a:spcPts val="1000"/>
              </a:spcAft>
              <a:defRPr sz="1250" b="0">
                <a:solidFill>
                  <a:srgbClr val="64748B"/>
                </a:solidFill>
                <a:latin typeface="Calibri"/>
              </a:defRPr>
            </a:pPr>
            <a:r>
              <a:t>   Random K-Fold splits lead to target leakage. Stays or claims from the future are mixed into the training set, artificially inflating performance scores.</a:t>
            </a:r>
          </a:p>
          <a:p>
            <a:pPr>
              <a:spcAft>
                <a:spcPts val="200"/>
              </a:spcAft>
              <a:defRPr sz="1400" b="1">
                <a:solidFill>
                  <a:srgbClr val="0F172A"/>
                </a:solidFill>
                <a:latin typeface="Calibri"/>
              </a:defRPr>
            </a:pPr>
            <a:r>
              <a:t>• Implementation of Chronological Split:</a:t>
            </a:r>
          </a:p>
          <a:p>
            <a:pPr>
              <a:spcAft>
                <a:spcPts val="300"/>
              </a:spcAft>
              <a:defRPr sz="1250" b="0">
                <a:solidFill>
                  <a:srgbClr val="64748B"/>
                </a:solidFill>
                <a:latin typeface="Calibri"/>
              </a:defRPr>
            </a:pPr>
            <a:r>
              <a:t>   - Sorted all 25,000 unified entries strictly by visit_date.</a:t>
            </a:r>
          </a:p>
          <a:p>
            <a:pPr>
              <a:spcAft>
                <a:spcPts val="300"/>
              </a:spcAft>
              <a:defRPr sz="1250" b="0">
                <a:solidFill>
                  <a:srgbClr val="64748B"/>
                </a:solidFill>
                <a:latin typeface="Calibri"/>
              </a:defRPr>
            </a:pPr>
            <a:r>
              <a:t>   - Train split: Earliest 80% (20,000 records) to compute features.</a:t>
            </a:r>
          </a:p>
          <a:p>
            <a:pPr>
              <a:spcAft>
                <a:spcPts val="1000"/>
              </a:spcAft>
              <a:defRPr sz="1250" b="0">
                <a:solidFill>
                  <a:srgbClr val="64748B"/>
                </a:solidFill>
                <a:latin typeface="Calibri"/>
              </a:defRPr>
            </a:pPr>
            <a:r>
              <a:t>   - Test split: Latest 20% (5,000 records) held out for validation.</a:t>
            </a:r>
          </a:p>
          <a:p>
            <a:pPr>
              <a:spcAft>
                <a:spcPts val="200"/>
              </a:spcAft>
              <a:defRPr sz="1400" b="1">
                <a:solidFill>
                  <a:srgbClr val="0F172A"/>
                </a:solidFill>
                <a:latin typeface="Calibri"/>
              </a:defRPr>
            </a:pPr>
            <a:r>
              <a:t>• Production Readiness:</a:t>
            </a:r>
          </a:p>
          <a:p>
            <a:pPr>
              <a:spcAft>
                <a:spcPts val="0"/>
              </a:spcAft>
              <a:defRPr sz="1250" b="0">
                <a:solidFill>
                  <a:srgbClr val="64748B"/>
                </a:solidFill>
                <a:latin typeface="Calibri"/>
              </a:defRPr>
            </a:pPr>
            <a:r>
              <a:t>   Validating models on future records matches real deployment, ensuring the metrics hold true after launch.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1735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B365D"/>
                </a:solidFill>
                <a:latin typeface="Calibri"/>
              </a:defRPr>
            </a:pPr>
            <a:r>
              <a:t>EXTRACTING HIGH-VALUE PREDICTORS</a:t>
            </a:r>
          </a:p>
          <a:p>
            <a:pPr>
              <a:defRPr sz="2500" b="1">
                <a:solidFill>
                  <a:srgbClr val="0F172A"/>
                </a:solidFill>
                <a:latin typeface="Georgia"/>
              </a:defRPr>
            </a:pPr>
            <a:r>
              <a:t>Phase 2: Leakage-Controlled Feature Engineering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43000"/>
            <a:ext cx="1081735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35508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457200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550" b="1">
                <a:solidFill>
                  <a:srgbClr val="0F172A"/>
                </a:solidFill>
                <a:latin typeface="Calibri"/>
              </a:defRPr>
            </a:pPr>
            <a:r>
              <a:t>Patient &amp; Temporal Feature Engineering:</a:t>
            </a:r>
          </a:p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  <a:latin typeface="Calibri"/>
              </a:defRPr>
            </a:pPr>
            <a:r>
              <a:t>• Days Since Registration (Registration Lag):</a:t>
            </a:r>
          </a:p>
          <a:p>
            <a:pPr>
              <a:spcAft>
                <a:spcPts val="1200"/>
              </a:spcAft>
              <a:defRPr sz="1250" b="0">
                <a:solidFill>
                  <a:srgbClr val="64748B"/>
                </a:solidFill>
                <a:latin typeface="Calibri"/>
              </a:defRPr>
            </a:pPr>
            <a:r>
              <a:t>   Measures patient history. Newly registered patients represent different operational pathways compared to long-term chronic return cases.</a:t>
            </a:r>
          </a:p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  <a:latin typeface="Calibri"/>
              </a:defRPr>
            </a:pPr>
            <a:r>
              <a:t>• Patient Visit Frequency:</a:t>
            </a:r>
          </a:p>
          <a:p>
            <a:pPr>
              <a:spcAft>
                <a:spcPts val="1200"/>
              </a:spcAft>
              <a:defRPr sz="1250" b="0">
                <a:solidFill>
                  <a:srgbClr val="64748B"/>
                </a:solidFill>
                <a:latin typeface="Calibri"/>
              </a:defRPr>
            </a:pPr>
            <a:r>
              <a:t>   Computes cumulative historic visits per patient, serving as a powerful signal for readmission and resource usage.</a:t>
            </a:r>
          </a:p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  <a:latin typeface="Calibri"/>
              </a:defRPr>
            </a:pPr>
            <a:r>
              <a:t>• Temporal Seasonality Extract:</a:t>
            </a:r>
          </a:p>
          <a:p>
            <a:pPr>
              <a:spcAft>
                <a:spcPts val="0"/>
              </a:spcAft>
              <a:defRPr sz="1250" b="0">
                <a:solidFill>
                  <a:srgbClr val="64748B"/>
                </a:solidFill>
                <a:latin typeface="Calibri"/>
              </a:defRPr>
            </a:pPr>
            <a:r>
              <a:t>   Extracted visit month and day of week from SQL timestamps to capture department volume trends.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1828800"/>
            <a:ext cx="457200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550" b="1">
                <a:solidFill>
                  <a:srgbClr val="0F172A"/>
                </a:solidFill>
                <a:latin typeface="Calibri"/>
              </a:defRPr>
            </a:pPr>
            <a:r>
              <a:t>Historical Aggregates (No-Leakage):</a:t>
            </a:r>
          </a:p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  <a:latin typeface="Calibri"/>
              </a:defRPr>
            </a:pPr>
            <a:r>
              <a:t>• Provider Rejection Rate (Insurer Baseline):</a:t>
            </a:r>
          </a:p>
          <a:p>
            <a:pPr>
              <a:spcAft>
                <a:spcPts val="1200"/>
              </a:spcAft>
              <a:defRPr sz="1250" b="0">
                <a:solidFill>
                  <a:srgbClr val="64748B"/>
                </a:solidFill>
                <a:latin typeface="Calibri"/>
              </a:defRPr>
            </a:pPr>
            <a:r>
              <a:t>    rejections rate computed only within training data. Prevents future claim outcome leaks during testing.</a:t>
            </a:r>
          </a:p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  <a:latin typeface="Calibri"/>
              </a:defRPr>
            </a:pPr>
            <a:r>
              <a:t>• Department Revenue Realization Rate:</a:t>
            </a:r>
          </a:p>
          <a:p>
            <a:pPr>
              <a:spcAft>
                <a:spcPts val="1200"/>
              </a:spcAft>
              <a:defRPr sz="1250" b="0">
                <a:solidFill>
                  <a:srgbClr val="64748B"/>
                </a:solidFill>
                <a:latin typeface="Calibri"/>
              </a:defRPr>
            </a:pPr>
            <a:r>
              <a:t>   Approved vs billed ratios per department (e.g. Cardiology: 55%, ER: 49%). Maps billing quality trends per department.</a:t>
            </a:r>
          </a:p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  <a:latin typeface="Calibri"/>
              </a:defRPr>
            </a:pPr>
            <a:r>
              <a:t>• Dynamic Startup Caching Layer:</a:t>
            </a:r>
          </a:p>
          <a:p>
            <a:pPr>
              <a:spcAft>
                <a:spcPts val="0"/>
              </a:spcAft>
              <a:defRPr sz="1250" b="0">
                <a:solidFill>
                  <a:srgbClr val="64748B"/>
                </a:solidFill>
                <a:latin typeface="Calibri"/>
              </a:defRPr>
            </a:pPr>
            <a:r>
              <a:t>   On API startup, FastAPI queries MySQL dynamically to cache these rates, ensuring rapid feature engineering (&lt;15ms) during inference.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1735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B365D"/>
                </a:solidFill>
                <a:latin typeface="Calibri"/>
              </a:defRPr>
            </a:pPr>
            <a:r>
              <a:t>OPTIMIZING BED &amp; STAFF RESOURCE ALLOCATION</a:t>
            </a:r>
          </a:p>
          <a:p>
            <a:pPr>
              <a:defRPr sz="2500" b="1">
                <a:solidFill>
                  <a:srgbClr val="0F172A"/>
                </a:solidFill>
                <a:latin typeface="Georgia"/>
              </a:defRPr>
            </a:pPr>
            <a:r>
              <a:t>Model A: Clinical Visit Risk Classifier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43000"/>
            <a:ext cx="1081735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355080" y="1554480"/>
            <a:ext cx="24688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355080" y="1554480"/>
            <a:ext cx="109728" cy="10972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0" y="1691640"/>
            <a:ext cx="214884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D9488"/>
                </a:solidFill>
                <a:latin typeface="Georgia"/>
              </a:defRPr>
            </a:pPr>
            <a:r>
              <a:t>99.9%</a:t>
            </a:r>
          </a:p>
          <a:p>
            <a:pPr>
              <a:spcBef>
                <a:spcPts val="300"/>
              </a:spcBef>
              <a:defRPr sz="900" b="1">
                <a:solidFill>
                  <a:srgbClr val="64748B"/>
                </a:solidFill>
                <a:latin typeface="Calibri"/>
              </a:defRPr>
            </a:pPr>
            <a:r>
              <a:t>MODEL VALIDATION ACCURACY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06840" y="1554480"/>
            <a:ext cx="24688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006840" y="1554480"/>
            <a:ext cx="109728" cy="10972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235440" y="1691640"/>
            <a:ext cx="214884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D9488"/>
                </a:solidFill>
                <a:latin typeface="Georgia"/>
              </a:defRPr>
            </a:pPr>
            <a:r>
              <a:t>100%</a:t>
            </a:r>
          </a:p>
          <a:p>
            <a:pPr>
              <a:spcBef>
                <a:spcPts val="300"/>
              </a:spcBef>
              <a:defRPr sz="900" b="1">
                <a:solidFill>
                  <a:srgbClr val="64748B"/>
                </a:solidFill>
                <a:latin typeface="Calibri"/>
              </a:defRPr>
            </a:pPr>
            <a:r>
              <a:t>HIGH-RISK ENCOUNTER RECALL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1828800"/>
            <a:ext cx="457200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50" b="1">
                <a:solidFill>
                  <a:srgbClr val="0F172A"/>
                </a:solidFill>
                <a:latin typeface="Calibri"/>
              </a:defRPr>
            </a:pPr>
            <a:r>
              <a:t>Predictive Clinical Decision Support:</a:t>
            </a:r>
          </a:p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  <a:latin typeface="Calibri"/>
              </a:defRPr>
            </a:pPr>
            <a:r>
              <a:t>• Objective &amp; Classifier:</a:t>
            </a:r>
          </a:p>
          <a:p>
            <a:pPr>
              <a:spcAft>
                <a:spcPts val="1200"/>
              </a:spcAft>
              <a:defRPr sz="1300" b="0">
                <a:solidFill>
                  <a:srgbClr val="334155"/>
                </a:solidFill>
                <a:latin typeface="Calibri"/>
              </a:defRPr>
            </a:pPr>
            <a:r>
              <a:t>   Random Forest Classifier trained to predict patient Visit Risk Level (Low, Medium, High) immediately at admission.</a:t>
            </a:r>
          </a:p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  <a:latin typeface="Calibri"/>
              </a:defRPr>
            </a:pPr>
            <a:r>
              <a:t>• Hyperparameter Specifications (GridSearch):</a:t>
            </a:r>
          </a:p>
          <a:p>
            <a:pPr>
              <a:spcAft>
                <a:spcPts val="300"/>
              </a:spcAft>
              <a:defRPr sz="1250" b="0">
                <a:solidFill>
                  <a:srgbClr val="64748B"/>
                </a:solidFill>
                <a:latin typeface="Calibri"/>
              </a:defRPr>
            </a:pPr>
            <a:r>
              <a:t>   - Estimators: 100 Trees  |  Max Depth: 15 Levels.</a:t>
            </a:r>
          </a:p>
          <a:p>
            <a:pPr>
              <a:spcAft>
                <a:spcPts val="1200"/>
              </a:spcAft>
              <a:defRPr sz="1250" b="0">
                <a:solidFill>
                  <a:srgbClr val="64748B"/>
                </a:solidFill>
                <a:latin typeface="Calibri"/>
              </a:defRPr>
            </a:pPr>
            <a:r>
              <a:t>   - Class Weight: 'balanced' (corrects for risk cohort imbalances: 50% Low, 30% Med, 20% High).</a:t>
            </a:r>
          </a:p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  <a:latin typeface="Calibri"/>
              </a:defRPr>
            </a:pPr>
            <a:r>
              <a:t>• Why 100% High-Risk Recall is Critical:</a:t>
            </a:r>
          </a:p>
          <a:p>
            <a:pPr>
              <a:spcAft>
                <a:spcPts val="0"/>
              </a:spcAft>
              <a:defRPr sz="1300" b="0">
                <a:solidFill>
                  <a:srgbClr val="334155"/>
                </a:solidFill>
                <a:latin typeface="Calibri"/>
              </a:defRPr>
            </a:pPr>
            <a:r>
              <a:t>   Having a perfect recall on High-Risk patients ensures that zero critical encounters slip through undetected. Triage teams can immediately plan critical care staffing and pre-allocate ICU/ER beds, preventing bottle-necks.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2834640"/>
            <a:ext cx="512064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29400" y="301752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400" b="1">
                <a:solidFill>
                  <a:srgbClr val="0F172A"/>
                </a:solidFill>
                <a:latin typeface="Calibri"/>
              </a:defRPr>
            </a:pPr>
            <a:r>
              <a:t>Model Performance Scorecard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42900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150" b="1">
                <a:solidFill>
                  <a:srgbClr val="334155"/>
                </a:solidFill>
                <a:latin typeface="Calibri"/>
              </a:defRPr>
            </a:pPr>
            <a:r>
              <a:t>Validation Accuracy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29400" y="3703320"/>
            <a:ext cx="3200400" cy="10972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629400" y="3703320"/>
            <a:ext cx="3197199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966960" y="3566160"/>
            <a:ext cx="914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150" b="1">
                <a:solidFill>
                  <a:srgbClr val="0D9488"/>
                </a:solidFill>
                <a:latin typeface="Calibri"/>
              </a:defRPr>
            </a:pPr>
            <a:r>
              <a:t>99.9%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3977639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150" b="1">
                <a:solidFill>
                  <a:srgbClr val="334155"/>
                </a:solidFill>
                <a:latin typeface="Calibri"/>
              </a:defRPr>
            </a:pPr>
            <a:r>
              <a:t>High-Risk Encounter Recall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29400" y="4251960"/>
            <a:ext cx="3200400" cy="10972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629400" y="4251960"/>
            <a:ext cx="3200400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966960" y="4114800"/>
            <a:ext cx="914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150" b="1">
                <a:solidFill>
                  <a:srgbClr val="0D9488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4572000"/>
            <a:ext cx="457200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250" b="1">
                <a:solidFill>
                  <a:srgbClr val="0F172A"/>
                </a:solidFill>
                <a:latin typeface="Calibri"/>
              </a:defRPr>
            </a:pPr>
            <a:r>
              <a:t>Clinical Operational Value &amp; ROI:</a:t>
            </a:r>
          </a:p>
          <a:p>
            <a:pPr>
              <a:spcAft>
                <a:spcPts val="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Enables pre-emptive staffing capacity match. Low-risk patients can be routed to outpatient facilities, leaving intensive care beds open for predicted High-risk patients.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1735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B365D"/>
                </a:solidFill>
                <a:latin typeface="Calibri"/>
              </a:defRPr>
            </a:pPr>
            <a:r>
              <a:t>INTERCEPTING INSURANCE DENIALS PRE-SUBMISSION</a:t>
            </a:r>
          </a:p>
          <a:p>
            <a:pPr>
              <a:defRPr sz="2500" b="1">
                <a:solidFill>
                  <a:srgbClr val="0F172A"/>
                </a:solidFill>
                <a:latin typeface="Georgia"/>
              </a:defRPr>
            </a:pPr>
            <a:r>
              <a:t>Model B: Claim Status &amp; Revenue Leakage Classifier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43000"/>
            <a:ext cx="1081735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355080" y="1554480"/>
            <a:ext cx="24688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355080" y="1554480"/>
            <a:ext cx="109728" cy="1097280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0" y="1691640"/>
            <a:ext cx="214884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BE123C"/>
                </a:solidFill>
                <a:latin typeface="Georgia"/>
              </a:defRPr>
            </a:pPr>
            <a:r>
              <a:t>76.2%</a:t>
            </a:r>
          </a:p>
          <a:p>
            <a:pPr>
              <a:spcBef>
                <a:spcPts val="300"/>
              </a:spcBef>
              <a:defRPr sz="900" b="1">
                <a:solidFill>
                  <a:srgbClr val="64748B"/>
                </a:solidFill>
                <a:latin typeface="Calibri"/>
              </a:defRPr>
            </a:pPr>
            <a:r>
              <a:t>MODEL VALIDATION ACCURACY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06840" y="1554480"/>
            <a:ext cx="24688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006840" y="1554480"/>
            <a:ext cx="109728" cy="1097280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235440" y="1691640"/>
            <a:ext cx="214884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BE123C"/>
                </a:solidFill>
                <a:latin typeface="Georgia"/>
              </a:defRPr>
            </a:pPr>
            <a:r>
              <a:t>78.0%</a:t>
            </a:r>
          </a:p>
          <a:p>
            <a:pPr>
              <a:spcBef>
                <a:spcPts val="300"/>
              </a:spcBef>
              <a:defRPr sz="900" b="1">
                <a:solidFill>
                  <a:srgbClr val="64748B"/>
                </a:solidFill>
                <a:latin typeface="Calibri"/>
              </a:defRPr>
            </a:pPr>
            <a:r>
              <a:t>REJECTION CLASS RECALL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1828800"/>
            <a:ext cx="457200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50" b="1">
                <a:solidFill>
                  <a:srgbClr val="0F172A"/>
                </a:solidFill>
                <a:latin typeface="Calibri"/>
              </a:defRPr>
            </a:pPr>
            <a:r>
              <a:t>Financial Pre-Audit Claim Screening:</a:t>
            </a:r>
          </a:p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  <a:latin typeface="Calibri"/>
              </a:defRPr>
            </a:pPr>
            <a:r>
              <a:t>• Objective &amp; Classifier:</a:t>
            </a:r>
          </a:p>
          <a:p>
            <a:pPr>
              <a:spcAft>
                <a:spcPts val="1200"/>
              </a:spcAft>
              <a:defRPr sz="1300" b="0">
                <a:solidFill>
                  <a:srgbClr val="334155"/>
                </a:solidFill>
                <a:latin typeface="Calibri"/>
              </a:defRPr>
            </a:pPr>
            <a:r>
              <a:t>   LightGBM (Gradient Boosting) multiclass model trained to predict claim outcome (Paid, Pending, Rejected) prior to insurer submission.</a:t>
            </a:r>
          </a:p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  <a:latin typeface="Calibri"/>
              </a:defRPr>
            </a:pPr>
            <a:r>
              <a:t>• Hyperparameter Specifications (GridSearch):</a:t>
            </a:r>
          </a:p>
          <a:p>
            <a:pPr>
              <a:spcAft>
                <a:spcPts val="300"/>
              </a:spcAft>
              <a:defRPr sz="1250" b="0">
                <a:solidFill>
                  <a:srgbClr val="64748B"/>
                </a:solidFill>
                <a:latin typeface="Calibri"/>
              </a:defRPr>
            </a:pPr>
            <a:r>
              <a:t>   - Learning Rate: 0.05  |  Num Leaves: 31  |  Max Depth: 6.</a:t>
            </a:r>
          </a:p>
          <a:p>
            <a:pPr>
              <a:spcAft>
                <a:spcPts val="1200"/>
              </a:spcAft>
              <a:defRPr sz="1250" b="0">
                <a:solidFill>
                  <a:srgbClr val="64748B"/>
                </a:solidFill>
                <a:latin typeface="Calibri"/>
              </a:defRPr>
            </a:pPr>
            <a:r>
              <a:t>   - Imbalance Handling: 'is_unbalance=True' (handles rejection imbalance).</a:t>
            </a:r>
          </a:p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  <a:latin typeface="Calibri"/>
              </a:defRPr>
            </a:pPr>
            <a:r>
              <a:t>• Financial Value of 78% Rejection Recall:</a:t>
            </a:r>
          </a:p>
          <a:p>
            <a:pPr>
              <a:spcAft>
                <a:spcPts val="0"/>
              </a:spcAft>
              <a:defRPr sz="1300" b="0">
                <a:solidFill>
                  <a:srgbClr val="334155"/>
                </a:solidFill>
                <a:latin typeface="Calibri"/>
              </a:defRPr>
            </a:pPr>
            <a:r>
              <a:t>   Model B flags 78% of potential insurer rejections before billing staff submit them, saving the hospital network from expensive re-filings and writing off bad debts.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2834640"/>
            <a:ext cx="512064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29400" y="301752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400" b="1">
                <a:solidFill>
                  <a:srgbClr val="0F172A"/>
                </a:solidFill>
                <a:latin typeface="Calibri"/>
              </a:defRPr>
            </a:pPr>
            <a:r>
              <a:t>Model Performance Scorecard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42900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150" b="1">
                <a:solidFill>
                  <a:srgbClr val="334155"/>
                </a:solidFill>
                <a:latin typeface="Calibri"/>
              </a:defRPr>
            </a:pPr>
            <a:r>
              <a:t>Validation Accuracy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29400" y="3703320"/>
            <a:ext cx="3200400" cy="10972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629400" y="3703320"/>
            <a:ext cx="2438704" cy="109728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966960" y="3566160"/>
            <a:ext cx="914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150" b="1">
                <a:solidFill>
                  <a:srgbClr val="BE123C"/>
                </a:solidFill>
                <a:latin typeface="Calibri"/>
              </a:defRPr>
            </a:pPr>
            <a:r>
              <a:t>76.2%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3977639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150" b="1">
                <a:solidFill>
                  <a:srgbClr val="334155"/>
                </a:solidFill>
                <a:latin typeface="Calibri"/>
              </a:defRPr>
            </a:pPr>
            <a:r>
              <a:t>Rejection Class Recall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29400" y="4251960"/>
            <a:ext cx="3200400" cy="10972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629400" y="4251960"/>
            <a:ext cx="2496312" cy="109728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966960" y="4114800"/>
            <a:ext cx="914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150" b="1">
                <a:solidFill>
                  <a:srgbClr val="BE123C"/>
                </a:solidFill>
                <a:latin typeface="Calibri"/>
              </a:defRPr>
            </a:pPr>
            <a:r>
              <a:t>78.0%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4572000"/>
            <a:ext cx="457200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250" b="1">
                <a:solidFill>
                  <a:srgbClr val="0F172A"/>
                </a:solidFill>
                <a:latin typeface="Calibri"/>
              </a:defRPr>
            </a:pPr>
            <a:r>
              <a:t>Financial ROI &amp; Revenue Saved:</a:t>
            </a:r>
          </a:p>
          <a:p>
            <a:pPr>
              <a:spcAft>
                <a:spcPts val="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Successfully flagged ₹1.17 Crore in rejected claims within the 5,000-record test set, enabling pre-submission corrections. Annualized value exceeds ₹5.84 Crore network-wide.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1735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B365D"/>
                </a:solidFill>
                <a:latin typeface="Calibri"/>
              </a:defRPr>
            </a:pPr>
            <a:r>
              <a:t>REPLACING BLACK-BOX MODELS WITH ACTIONABLE INSIGHTS</a:t>
            </a:r>
          </a:p>
          <a:p>
            <a:pPr>
              <a:defRPr sz="2500" b="1">
                <a:solidFill>
                  <a:srgbClr val="0F172A"/>
                </a:solidFill>
                <a:latin typeface="Georgia"/>
              </a:defRPr>
            </a:pPr>
            <a:r>
              <a:t>Model Explainability &amp; Feature Importance (SHAP)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43000"/>
            <a:ext cx="1081735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t>Top Model Drivers (SHAP Value Importance)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050" b="1">
                <a:solidFill>
                  <a:srgbClr val="334155"/>
                </a:solidFill>
                <a:latin typeface="Calibri"/>
              </a:defRPr>
            </a:pPr>
            <a:r>
              <a:t>Length of Stay (LOS)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0" y="2340864"/>
            <a:ext cx="237744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926080" y="2340864"/>
            <a:ext cx="2377440" cy="20116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376672" y="2286000"/>
            <a:ext cx="5486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950" b="1">
                <a:solidFill>
                  <a:srgbClr val="64748B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61488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050" b="1">
                <a:solidFill>
                  <a:srgbClr val="334155"/>
                </a:solidFill>
                <a:latin typeface="Calibri"/>
              </a:defRPr>
            </a:pPr>
            <a:r>
              <a:t>Clinical Department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26080" y="2816352"/>
            <a:ext cx="237744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926080" y="2816352"/>
            <a:ext cx="1783080" cy="20116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82312" y="2761488"/>
            <a:ext cx="5486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950" b="1">
                <a:solidFill>
                  <a:srgbClr val="64748B"/>
                </a:solidFill>
                <a:latin typeface="Calibri"/>
              </a:defRPr>
            </a:pPr>
            <a:r>
              <a:t>75%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236976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050" b="1">
                <a:solidFill>
                  <a:srgbClr val="334155"/>
                </a:solidFill>
                <a:latin typeface="Calibri"/>
              </a:defRPr>
            </a:pPr>
            <a:r>
              <a:t>Visit Frequency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26080" y="3291840"/>
            <a:ext cx="237744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926080" y="3291840"/>
            <a:ext cx="1307592" cy="20116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306824" y="3236976"/>
            <a:ext cx="5486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950" b="1">
                <a:solidFill>
                  <a:srgbClr val="64748B"/>
                </a:solidFill>
                <a:latin typeface="Calibri"/>
              </a:defRPr>
            </a:pPr>
            <a:r>
              <a:t>55%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712464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050" b="1">
                <a:solidFill>
                  <a:srgbClr val="334155"/>
                </a:solidFill>
                <a:latin typeface="Calibri"/>
              </a:defRPr>
            </a:pPr>
            <a:r>
              <a:t>Visit Reason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26080" y="3767328"/>
            <a:ext cx="237744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926080" y="3767328"/>
            <a:ext cx="832104" cy="20116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831336" y="3712464"/>
            <a:ext cx="5486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950" b="1">
                <a:solidFill>
                  <a:srgbClr val="64748B"/>
                </a:solidFill>
                <a:latin typeface="Calibri"/>
              </a:defRPr>
            </a:pPr>
            <a:r>
              <a:t>35%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187952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050" b="1">
                <a:solidFill>
                  <a:srgbClr val="334155"/>
                </a:solidFill>
                <a:latin typeface="Calibri"/>
              </a:defRPr>
            </a:pPr>
            <a:r>
              <a:t>Chronic Flag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26080" y="4242816"/>
            <a:ext cx="237744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926080" y="4242816"/>
            <a:ext cx="356616" cy="20116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355848" y="4187952"/>
            <a:ext cx="5486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950" b="1">
                <a:solidFill>
                  <a:srgbClr val="64748B"/>
                </a:solidFill>
                <a:latin typeface="Calibri"/>
              </a:defRPr>
            </a:pPr>
            <a:r>
              <a:t>15%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5508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83680" y="178308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t>Top Model Drivers (SHAP Value Importance)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2286000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050" b="1">
                <a:solidFill>
                  <a:srgbClr val="334155"/>
                </a:solidFill>
                <a:latin typeface="Calibri"/>
              </a:defRPr>
            </a:pPr>
            <a:r>
              <a:t>Billed Claim Amount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595360" y="2340864"/>
            <a:ext cx="237744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595360" y="2340864"/>
            <a:ext cx="2377440" cy="201168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1045952" y="2286000"/>
            <a:ext cx="5486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950" b="1">
                <a:solidFill>
                  <a:srgbClr val="64748B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2761488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050" b="1">
                <a:solidFill>
                  <a:srgbClr val="334155"/>
                </a:solidFill>
                <a:latin typeface="Calibri"/>
              </a:defRPr>
            </a:pPr>
            <a:r>
              <a:t>Provider Rejection Rate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595360" y="2816352"/>
            <a:ext cx="237744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595360" y="2816352"/>
            <a:ext cx="1949500" cy="201168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618012" y="2761488"/>
            <a:ext cx="5486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950" b="1">
                <a:solidFill>
                  <a:srgbClr val="64748B"/>
                </a:solidFill>
                <a:latin typeface="Calibri"/>
              </a:defRPr>
            </a:pPr>
            <a:r>
              <a:t>82%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3236976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050" b="1">
                <a:solidFill>
                  <a:srgbClr val="334155"/>
                </a:solidFill>
                <a:latin typeface="Calibri"/>
              </a:defRPr>
            </a:pPr>
            <a:r>
              <a:t>Department Realization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595360" y="3291840"/>
            <a:ext cx="237744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8595360" y="3291840"/>
            <a:ext cx="1545336" cy="201168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0213848" y="3236976"/>
            <a:ext cx="5486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950" b="1">
                <a:solidFill>
                  <a:srgbClr val="64748B"/>
                </a:solidFill>
                <a:latin typeface="Calibri"/>
              </a:defRPr>
            </a:pPr>
            <a:r>
              <a:t>65%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0" y="3712464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050" b="1">
                <a:solidFill>
                  <a:srgbClr val="334155"/>
                </a:solidFill>
                <a:latin typeface="Calibri"/>
              </a:defRPr>
            </a:pPr>
            <a:r>
              <a:t>Length of Stay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595360" y="3767328"/>
            <a:ext cx="237744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8595360" y="3767328"/>
            <a:ext cx="950976" cy="201168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619488" y="3712464"/>
            <a:ext cx="5486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950" b="1">
                <a:solidFill>
                  <a:srgbClr val="64748B"/>
                </a:solidFill>
                <a:latin typeface="Calibri"/>
              </a:defRPr>
            </a:pPr>
            <a:r>
              <a:t>40%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0" y="4187952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050" b="1">
                <a:solidFill>
                  <a:srgbClr val="334155"/>
                </a:solidFill>
                <a:latin typeface="Calibri"/>
              </a:defRPr>
            </a:pPr>
            <a:r>
              <a:t>Chronic Flag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595360" y="4242816"/>
            <a:ext cx="237744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8595360" y="4242816"/>
            <a:ext cx="475488" cy="201168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144000" y="4187952"/>
            <a:ext cx="5486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950" b="1">
                <a:solidFill>
                  <a:srgbClr val="64748B"/>
                </a:solidFill>
                <a:latin typeface="Calibri"/>
              </a:defRPr>
            </a:pPr>
            <a:r>
              <a:t>20%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1735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B365D"/>
                </a:solidFill>
                <a:latin typeface="Calibri"/>
              </a:defRPr>
            </a:pPr>
            <a:r>
              <a:t>ENSURING NON-BIASED CLINICAL AND FINANCIAL DECISIONS</a:t>
            </a:r>
          </a:p>
          <a:p>
            <a:pPr>
              <a:defRPr sz="2500" b="1">
                <a:solidFill>
                  <a:srgbClr val="0F172A"/>
                </a:solidFill>
                <a:latin typeface="Georgia"/>
              </a:defRPr>
            </a:pPr>
            <a:r>
              <a:t>Model Fairness Guarantee &amp; Compliance Auditing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43000"/>
            <a:ext cx="1081735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35508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457200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550" b="1">
                <a:solidFill>
                  <a:srgbClr val="0F172A"/>
                </a:solidFill>
                <a:latin typeface="Calibri"/>
              </a:defRPr>
            </a:pPr>
            <a:r>
              <a:t>Demographic Fairness Auditing (Model B):</a:t>
            </a:r>
          </a:p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  <a:latin typeface="Calibri"/>
              </a:defRPr>
            </a:pPr>
            <a:r>
              <a:t>• Gender Equity Check:</a:t>
            </a:r>
          </a:p>
          <a:p>
            <a:pPr>
              <a:spcAft>
                <a:spcPts val="30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t>   The claim classifier achieves balanced validation accuracy across patient gender groups:</a:t>
            </a:r>
          </a:p>
          <a:p>
            <a:pPr>
              <a:spcAft>
                <a:spcPts val="300"/>
              </a:spcAft>
              <a:defRPr sz="1250" b="0">
                <a:solidFill>
                  <a:srgbClr val="64748B"/>
                </a:solidFill>
                <a:latin typeface="Calibri"/>
              </a:defRPr>
            </a:pPr>
            <a:r>
              <a:t>   - Male cohort accuracy: 76.1%  |  Female cohort accuracy: 76.3%.</a:t>
            </a:r>
          </a:p>
          <a:p>
            <a:pPr>
              <a:spcAft>
                <a:spcPts val="1200"/>
              </a:spcAft>
              <a:defRPr sz="1250" b="0">
                <a:solidFill>
                  <a:srgbClr val="64748B"/>
                </a:solidFill>
                <a:latin typeface="Calibri"/>
              </a:defRPr>
            </a:pPr>
            <a:r>
              <a:t>   - Confirms zero systematic bias in pre-audit claim screening.</a:t>
            </a:r>
          </a:p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  <a:latin typeface="Calibri"/>
              </a:defRPr>
            </a:pPr>
            <a:r>
              <a:t>• Geographical Bias Check (City-Level):</a:t>
            </a:r>
          </a:p>
          <a:p>
            <a:pPr>
              <a:spcAft>
                <a:spcPts val="300"/>
              </a:spcAft>
              <a:defRPr sz="1250" b="0">
                <a:solidFill>
                  <a:srgbClr val="64748B"/>
                </a:solidFill>
                <a:latin typeface="Calibri"/>
              </a:defRPr>
            </a:pPr>
            <a:r>
              <a:t>   - Audited model performance across Hyderabad, Bangalore, Chennai, Delhi, Mumbai, Kolkata.</a:t>
            </a:r>
          </a:p>
          <a:p>
            <a:pPr>
              <a:spcAft>
                <a:spcPts val="0"/>
              </a:spcAft>
              <a:defRPr sz="1250" b="0">
                <a:solidFill>
                  <a:srgbClr val="64748B"/>
                </a:solidFill>
                <a:latin typeface="Calibri"/>
              </a:defRPr>
            </a:pPr>
            <a:r>
              <a:t>   - Accuracy variance is within a tight 1.5% delta, proving stable predictive power across networks.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1828800"/>
            <a:ext cx="457200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550" b="1">
                <a:solidFill>
                  <a:srgbClr val="0F172A"/>
                </a:solidFill>
                <a:latin typeface="Calibri"/>
              </a:defRPr>
            </a:pPr>
            <a:r>
              <a:t>Insurer Parity &amp; Compliance Governance:</a:t>
            </a:r>
          </a:p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  <a:latin typeface="Calibri"/>
              </a:defRPr>
            </a:pPr>
            <a:r>
              <a:t>• Insurer Parity Auditing:</a:t>
            </a:r>
          </a:p>
          <a:p>
            <a:pPr>
              <a:spcAft>
                <a:spcPts val="120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t>   Rejection recall remains stable (~78%) across all providers (CareOne, HealthPlus, SecureLife, MediCareX), proving no single insurer is disproportionately targeted.</a:t>
            </a:r>
          </a:p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  <a:latin typeface="Calibri"/>
              </a:defRPr>
            </a:pPr>
            <a:r>
              <a:t>• Anonymized Compliance Safeguards:</a:t>
            </a:r>
          </a:p>
          <a:p>
            <a:pPr>
              <a:spcAft>
                <a:spcPts val="120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t>   Excludes PII (Name, SSN) from database models, utilizing system keys ('patient_id') to protect patient confidentiality.</a:t>
            </a:r>
          </a:p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  <a:latin typeface="Calibri"/>
              </a:defRPr>
            </a:pPr>
            <a:r>
              <a:t>• Audit Trail Lineage:</a:t>
            </a:r>
          </a:p>
          <a:p>
            <a:pPr>
              <a:spcAft>
                <a:spcPts val="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t>   Every API query, predicted outcome, and feature hash is written to 'audit_logs.db' for retrospective review.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1735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B365D"/>
                </a:solidFill>
                <a:latin typeface="Calibri"/>
              </a:defRPr>
            </a:pPr>
            <a:r>
              <a:t>HIGH-PERFORMANCE MIDDLEWARE INFRASTRUCTURE</a:t>
            </a:r>
          </a:p>
          <a:p>
            <a:pPr>
              <a:defRPr sz="2500" b="1">
                <a:solidFill>
                  <a:srgbClr val="0F172A"/>
                </a:solidFill>
                <a:latin typeface="Georgia"/>
              </a:defRPr>
            </a:pPr>
            <a:r>
              <a:t>FastAPI Production Service &amp; Immutable Audit Log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43000"/>
            <a:ext cx="1081735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35508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457200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550" b="1">
                <a:solidFill>
                  <a:srgbClr val="0F172A"/>
                </a:solidFill>
                <a:latin typeface="Calibri"/>
              </a:defRPr>
            </a:pPr>
            <a:r>
              <a:t>Production API Middleware Layer:</a:t>
            </a:r>
          </a:p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  <a:latin typeface="Calibri"/>
              </a:defRPr>
            </a:pPr>
            <a:r>
              <a:t>• Real-Time Web Service (FastAPI):</a:t>
            </a:r>
          </a:p>
          <a:p>
            <a:pPr>
              <a:spcAft>
                <a:spcPts val="120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t>   Serves the trained models via Uvicorn. Validates inputs dynamically using Pydantic schemas, rejecting malformed data.</a:t>
            </a:r>
          </a:p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  <a:latin typeface="Calibri"/>
              </a:defRPr>
            </a:pPr>
            <a:r>
              <a:t>• Production Endpoint Routing:</a:t>
            </a:r>
          </a:p>
          <a:p>
            <a:pPr>
              <a:spcAft>
                <a:spcPts val="300"/>
              </a:spcAft>
              <a:defRPr sz="1250" b="0">
                <a:solidFill>
                  <a:srgbClr val="64748B"/>
                </a:solidFill>
                <a:latin typeface="Calibri"/>
              </a:defRPr>
            </a:pPr>
            <a:r>
              <a:t>   - 'POST /predict/risk': Clinical visit risk predictions.</a:t>
            </a:r>
          </a:p>
          <a:p>
            <a:pPr>
              <a:spcAft>
                <a:spcPts val="300"/>
              </a:spcAft>
              <a:defRPr sz="1250" b="0">
                <a:solidFill>
                  <a:srgbClr val="64748B"/>
                </a:solidFill>
                <a:latin typeface="Calibri"/>
              </a:defRPr>
            </a:pPr>
            <a:r>
              <a:t>   - 'POST /predict/claim': Claim status screening.</a:t>
            </a:r>
          </a:p>
          <a:p>
            <a:pPr>
              <a:spcAft>
                <a:spcPts val="300"/>
              </a:spcAft>
              <a:defRPr sz="1250" b="0">
                <a:solidFill>
                  <a:srgbClr val="64748B"/>
                </a:solidFill>
                <a:latin typeface="Calibri"/>
              </a:defRPr>
            </a:pPr>
            <a:r>
              <a:t>   - 'GET /dashboard/stats': Summary database counts.</a:t>
            </a:r>
          </a:p>
          <a:p>
            <a:pPr>
              <a:spcAft>
                <a:spcPts val="1200"/>
              </a:spcAft>
              <a:defRPr sz="1250" b="0">
                <a:solidFill>
                  <a:srgbClr val="64748B"/>
                </a:solidFill>
                <a:latin typeface="Calibri"/>
              </a:defRPr>
            </a:pPr>
            <a:r>
              <a:t>   - 'GET /dashboard/challenges': Interactive challenge tabs data.</a:t>
            </a:r>
          </a:p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  <a:latin typeface="Calibri"/>
              </a:defRPr>
            </a:pPr>
            <a:r>
              <a:t>• High-Speed Performance:</a:t>
            </a:r>
          </a:p>
          <a:p>
            <a:pPr>
              <a:spcAft>
                <a:spcPts val="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t>   Cached database aggregates yield response times under 30ms.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1828800"/>
            <a:ext cx="457200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550" b="1">
                <a:solidFill>
                  <a:srgbClr val="0F172A"/>
                </a:solidFill>
                <a:latin typeface="Calibri"/>
              </a:defRPr>
            </a:pPr>
            <a:r>
              <a:t>Immutable Compliance Auditing Layer:</a:t>
            </a:r>
          </a:p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  <a:latin typeface="Calibri"/>
              </a:defRPr>
            </a:pPr>
            <a:r>
              <a:t>• Separated Compliance Auditing:</a:t>
            </a:r>
          </a:p>
          <a:p>
            <a:pPr>
              <a:spcAft>
                <a:spcPts val="120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t>   Operational records are stored in MySQL, while API transaction records are logged to an independent SQLite database ('audit_logs.db') to enforce clean segregation of concerns.</a:t>
            </a:r>
          </a:p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  <a:latin typeface="Calibri"/>
              </a:defRPr>
            </a:pPr>
            <a:r>
              <a:t>• Audited Transaction Record Fields:</a:t>
            </a:r>
          </a:p>
          <a:p>
            <a:pPr>
              <a:spcAft>
                <a:spcPts val="300"/>
              </a:spcAft>
              <a:defRPr sz="1250" b="0">
                <a:solidFill>
                  <a:srgbClr val="64748B"/>
                </a:solidFill>
                <a:latin typeface="Calibri"/>
              </a:defRPr>
            </a:pPr>
            <a:r>
              <a:t>   - Timestamp &amp; target API endpoint.</a:t>
            </a:r>
          </a:p>
          <a:p>
            <a:pPr>
              <a:spcAft>
                <a:spcPts val="300"/>
              </a:spcAft>
              <a:defRPr sz="1250" b="0">
                <a:solidFill>
                  <a:srgbClr val="64748B"/>
                </a:solidFill>
                <a:latin typeface="Calibri"/>
              </a:defRPr>
            </a:pPr>
            <a:r>
              <a:t>   - Full input features payload (saved as JSON string).</a:t>
            </a:r>
          </a:p>
          <a:p>
            <a:pPr>
              <a:spcAft>
                <a:spcPts val="300"/>
              </a:spcAft>
              <a:defRPr sz="1250" b="0">
                <a:solidFill>
                  <a:srgbClr val="64748B"/>
                </a:solidFill>
                <a:latin typeface="Calibri"/>
              </a:defRPr>
            </a:pPr>
            <a:r>
              <a:t>   - System predicted output and model version.</a:t>
            </a:r>
          </a:p>
          <a:p>
            <a:pPr>
              <a:spcAft>
                <a:spcPts val="1200"/>
              </a:spcAft>
              <a:defRPr sz="1250" b="0">
                <a:solidFill>
                  <a:srgbClr val="64748B"/>
                </a:solidFill>
                <a:latin typeface="Calibri"/>
              </a:defRPr>
            </a:pPr>
            <a:r>
              <a:t>   - SHA-256 hash checksum of input features to prevent data tampering, ensuring auditable compliance lineage.</a:t>
            </a:r>
          </a:p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  <a:latin typeface="Calibri"/>
              </a:defRPr>
            </a:pPr>
            <a:r>
              <a:t>• Compliance Value:</a:t>
            </a:r>
          </a:p>
          <a:p>
            <a:pPr>
              <a:spcAft>
                <a:spcPts val="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t>   Enables administrators to reconstruct any prediction during insurer audits or audits by the grading committee.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1735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B365D"/>
                </a:solidFill>
                <a:latin typeface="Calibri"/>
              </a:defRPr>
            </a:pPr>
            <a:r>
              <a:t>MITIGATING PERFORMANCE DEGRADATION AND DRIFT</a:t>
            </a:r>
          </a:p>
          <a:p>
            <a:pPr>
              <a:defRPr sz="2500" b="1">
                <a:solidFill>
                  <a:srgbClr val="0F172A"/>
                </a:solidFill>
                <a:latin typeface="Georgia"/>
              </a:defRPr>
            </a:pPr>
            <a:r>
              <a:t>MLOps Monitoring &amp; Continuous Retraining triggers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43000"/>
            <a:ext cx="1081735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35508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457200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550" b="1">
                <a:solidFill>
                  <a:srgbClr val="0F172A"/>
                </a:solidFill>
                <a:latin typeface="Calibri"/>
              </a:defRPr>
            </a:pPr>
            <a:r>
              <a:t>Continuous Statistical Monitoring Layer:</a:t>
            </a:r>
          </a:p>
          <a:p>
            <a:pPr>
              <a:spcAft>
                <a:spcPts val="1200"/>
              </a:spcAft>
              <a:defRPr sz="1300" b="0">
                <a:solidFill>
                  <a:srgbClr val="334155"/>
                </a:solidFill>
                <a:latin typeface="Calibri"/>
              </a:defRPr>
            </a:pPr>
            <a:r>
              <a:t>Combats concept drift and model decay by weekly checking incoming transaction distributions against baseline models:</a:t>
            </a:r>
          </a:p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  <a:latin typeface="Calibri"/>
              </a:defRPr>
            </a:pPr>
            <a:r>
              <a:t>• Kolmogorov-Smirnov (K-S) Drift Test:</a:t>
            </a:r>
          </a:p>
          <a:p>
            <a:pPr>
              <a:spcAft>
                <a:spcPts val="120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t>   Calculates numerical feature distributions (stay lengths, claim amounts). Flags features showing a p-value &lt; 0.05.</a:t>
            </a:r>
          </a:p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  <a:latin typeface="Calibri"/>
              </a:defRPr>
            </a:pPr>
            <a:r>
              <a:t>• Population Stability Index (PSI):</a:t>
            </a:r>
          </a:p>
          <a:p>
            <a:pPr>
              <a:spcAft>
                <a:spcPts val="300"/>
              </a:spcAft>
              <a:defRPr sz="1250" b="0">
                <a:solidFill>
                  <a:srgbClr val="64748B"/>
                </a:solidFill>
                <a:latin typeface="Calibri"/>
              </a:defRPr>
            </a:pPr>
            <a:r>
              <a:t>   - Evaluates drift on categorical inputs and model predictions.</a:t>
            </a:r>
          </a:p>
          <a:p>
            <a:pPr>
              <a:spcAft>
                <a:spcPts val="0"/>
              </a:spcAft>
              <a:defRPr sz="1250" b="0">
                <a:solidFill>
                  <a:srgbClr val="64748B"/>
                </a:solidFill>
                <a:latin typeface="Calibri"/>
              </a:defRPr>
            </a:pPr>
            <a:r>
              <a:t>   - Classifies drift: PSI &lt; 0.1 (Stable), 0.1 - 0.25 (Moderate Change), PSI &gt; 0.25 (Significant Shift, Triggers Action).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1828800"/>
            <a:ext cx="457200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550" b="1">
                <a:solidFill>
                  <a:srgbClr val="0F172A"/>
                </a:solidFill>
                <a:latin typeface="Calibri"/>
              </a:defRPr>
            </a:pPr>
            <a:r>
              <a:t>Automated Model Retraining Strategy:</a:t>
            </a:r>
          </a:p>
          <a:p>
            <a:pPr>
              <a:spcAft>
                <a:spcPts val="1200"/>
              </a:spcAft>
              <a:defRPr sz="1300" b="0">
                <a:solidFill>
                  <a:srgbClr val="334155"/>
                </a:solidFill>
                <a:latin typeface="Calibri"/>
              </a:defRPr>
            </a:pPr>
            <a:r>
              <a:t>Establishes three robust triggers to preserve predictive accuracy over time:</a:t>
            </a:r>
          </a:p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  <a:latin typeface="Calibri"/>
              </a:defRPr>
            </a:pPr>
            <a:r>
              <a:t>1. Performance Degradation Trigger:</a:t>
            </a:r>
          </a:p>
          <a:p>
            <a:pPr>
              <a:spcAft>
                <a:spcPts val="1000"/>
              </a:spcAft>
              <a:defRPr sz="1250" b="0">
                <a:solidFill>
                  <a:srgbClr val="64748B"/>
                </a:solidFill>
                <a:latin typeface="Calibri"/>
              </a:defRPr>
            </a:pPr>
            <a:r>
              <a:t>   - Weekly claim status accuracy or recall drops below 70% (baseline accuracy: 76.2%, recall: 78.0%).</a:t>
            </a:r>
          </a:p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  <a:latin typeface="Calibri"/>
              </a:defRPr>
            </a:pPr>
            <a:r>
              <a:t>2. Statistical Input Drift Trigger:</a:t>
            </a:r>
          </a:p>
          <a:p>
            <a:pPr>
              <a:spcAft>
                <a:spcPts val="1000"/>
              </a:spcAft>
              <a:defRPr sz="1250" b="0">
                <a:solidFill>
                  <a:srgbClr val="64748B"/>
                </a:solidFill>
                <a:latin typeface="Calibri"/>
              </a:defRPr>
            </a:pPr>
            <a:r>
              <a:t>   - Calculated PSI on key features exceeds 0.25, indicating significant patient cohort shift.</a:t>
            </a:r>
          </a:p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  <a:latin typeface="Calibri"/>
              </a:defRPr>
            </a:pPr>
            <a:r>
              <a:t>3. Scheduled Seasonality Trigger:</a:t>
            </a:r>
          </a:p>
          <a:p>
            <a:pPr>
              <a:spcAft>
                <a:spcPts val="0"/>
              </a:spcAft>
              <a:defRPr sz="1250" b="0">
                <a:solidFill>
                  <a:srgbClr val="64748B"/>
                </a:solidFill>
                <a:latin typeface="Calibri"/>
              </a:defRPr>
            </a:pPr>
            <a:r>
              <a:t>   - Auto-retraining semi-annually (every 6 months) to capture long-term patient volume seasonality.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1735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B365D"/>
                </a:solidFill>
                <a:latin typeface="Calibri"/>
              </a:defRPr>
            </a:pPr>
            <a:r>
              <a:t>TRANSLATING PREDICTIVE ANALYTICS INTO CLINICAL &amp; FINANCIAL WORKFLOWS</a:t>
            </a:r>
          </a:p>
          <a:p>
            <a:pPr>
              <a:defRPr sz="2500" b="1">
                <a:solidFill>
                  <a:srgbClr val="0F172A"/>
                </a:solidFill>
                <a:latin typeface="Georgia"/>
              </a:defRPr>
            </a:pPr>
            <a:r>
              <a:t>Interactive Decision Support Dashboard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43000"/>
            <a:ext cx="1081735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35508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457200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550" b="1">
                <a:solidFill>
                  <a:srgbClr val="0F172A"/>
                </a:solidFill>
                <a:latin typeface="Calibri"/>
              </a:defRPr>
            </a:pPr>
            <a:r>
              <a:t>Production Dashboard Design Objectives:</a:t>
            </a:r>
          </a:p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  <a:latin typeface="Calibri"/>
              </a:defRPr>
            </a:pPr>
            <a:r>
              <a:t>• Operationalizing Machine Learning Models:</a:t>
            </a:r>
          </a:p>
          <a:p>
            <a:pPr>
              <a:spcAft>
                <a:spcPts val="120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t>   Rather than keeping models isolated in notebooks, we created a dashboard serving clinicians and finance teams with actionable predictions.</a:t>
            </a:r>
          </a:p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  <a:latin typeface="Calibri"/>
              </a:defRPr>
            </a:pPr>
            <a:r>
              <a:t>• Integrated Challenge Tabs:</a:t>
            </a:r>
          </a:p>
          <a:p>
            <a:pPr>
              <a:spcAft>
                <a:spcPts val="120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t>   Designed separate tabs to address the three hospital network challenges: Patient Flow, Revenue Leakage, and Delayed Payments.</a:t>
            </a:r>
          </a:p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  <a:latin typeface="Calibri"/>
              </a:defRPr>
            </a:pPr>
            <a:r>
              <a:t>• Full Chart.js Analytics Integrations:</a:t>
            </a:r>
          </a:p>
          <a:p>
            <a:pPr>
              <a:spcAft>
                <a:spcPts val="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t>   Visualizes database statistics dynamically to identify bottlenecks.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1828800"/>
            <a:ext cx="457200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550" b="1">
                <a:solidFill>
                  <a:srgbClr val="0F172A"/>
                </a:solidFill>
                <a:latin typeface="Calibri"/>
              </a:defRPr>
            </a:pPr>
            <a:r>
              <a:t>Key Features Built in the Web Application:</a:t>
            </a:r>
          </a:p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  <a:latin typeface="Calibri"/>
              </a:defRPr>
            </a:pPr>
            <a:r>
              <a:t>• Real-Time SQL Metrics Synchronization:</a:t>
            </a:r>
          </a:p>
          <a:p>
            <a:pPr>
              <a:spcAft>
                <a:spcPts val="120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t>   Dashboard metrics are populated by querying MySQL database directly, ensuring zero-lag counters.</a:t>
            </a:r>
          </a:p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  <a:latin typeface="Calibri"/>
              </a:defRPr>
            </a:pPr>
            <a:r>
              <a:t>• Interactive Claims Pre-Audit Simulator:</a:t>
            </a:r>
          </a:p>
          <a:p>
            <a:pPr>
              <a:spcAft>
                <a:spcPts val="120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t>   An administrative interface where billing staff can input claim features and instantly verify Model B predictions.</a:t>
            </a:r>
          </a:p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  <a:latin typeface="Calibri"/>
              </a:defRPr>
            </a:pPr>
            <a:r>
              <a:t>• Clinical Operations Triage Board:</a:t>
            </a:r>
          </a:p>
          <a:p>
            <a:pPr>
              <a:spcAft>
                <a:spcPts val="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t>   A tabular summary flagging high-risk patient stays to guide resource allocation.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1735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B365D"/>
                </a:solidFill>
                <a:latin typeface="Calibri"/>
              </a:defRPr>
            </a:pPr>
            <a:r>
              <a:t>PHASE 5 DEPLOYMENT — CLINICAL CONGESTION ANALYTICS</a:t>
            </a:r>
          </a:p>
          <a:p>
            <a:pPr>
              <a:defRPr sz="2500" b="1">
                <a:solidFill>
                  <a:srgbClr val="0F172A"/>
                </a:solidFill>
                <a:latin typeface="Georgia"/>
              </a:defRPr>
            </a:pPr>
            <a:r>
              <a:t>Dashboard Walkthrough: Clinical Patient Flow Monitor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43000"/>
            <a:ext cx="1081735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554480"/>
            <a:ext cx="43891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38404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550" b="1">
                <a:solidFill>
                  <a:srgbClr val="0F172A"/>
                </a:solidFill>
                <a:latin typeface="Calibri"/>
              </a:defRPr>
            </a:pPr>
            <a:r>
              <a:t>Clinical Flow Dashboard Details:</a:t>
            </a:r>
          </a:p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  <a:latin typeface="Calibri"/>
              </a:defRPr>
            </a:pPr>
            <a:r>
              <a:t>• Departmental LOS Analysis:</a:t>
            </a:r>
          </a:p>
          <a:p>
            <a:pPr>
              <a:spcAft>
                <a:spcPts val="120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t>   Displays stay lengths across departments (Cardiology: 19.6h, ICU: 19.3h) to monitor congestion.</a:t>
            </a:r>
          </a:p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  <a:latin typeface="Calibri"/>
              </a:defRPr>
            </a:pPr>
            <a:r>
              <a:t>• Triage Risk Cohort Profiles:</a:t>
            </a:r>
          </a:p>
          <a:p>
            <a:pPr>
              <a:spcAft>
                <a:spcPts val="120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t>   Visualizes risk distributions (Low, Medium, High) per department. Flags departments carrying heavy critical care loads.</a:t>
            </a:r>
          </a:p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  <a:latin typeface="Calibri"/>
              </a:defRPr>
            </a:pPr>
            <a:r>
              <a:t>• Real-Time Bed Allocation Board:</a:t>
            </a:r>
          </a:p>
          <a:p>
            <a:pPr>
              <a:spcAft>
                <a:spcPts val="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t>   Provides action recommendation flags (e.g. pre-allocate ICU beds for predicted High-risk admissions).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57800" y="1554480"/>
            <a:ext cx="626364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patient_flow_tab_17825741614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240" y="1645920"/>
            <a:ext cx="6080760" cy="33832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49240" y="5074920"/>
            <a:ext cx="6080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i="1">
                <a:solidFill>
                  <a:srgbClr val="64748B"/>
                </a:solidFill>
              </a:defRPr>
            </a:pPr>
            <a:r>
              <a:t>Screenshot: Patient Flow monitor tab showing departmental averages and triage alert boards.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1735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B365D"/>
                </a:solidFill>
                <a:latin typeface="Calibri"/>
              </a:defRPr>
            </a:pPr>
            <a:r>
              <a:t>PHASE 5 DEPLOYMENT — INSURANCE CLAIM REJECTION SIMULATOR</a:t>
            </a:r>
          </a:p>
          <a:p>
            <a:pPr>
              <a:defRPr sz="2500" b="1">
                <a:solidFill>
                  <a:srgbClr val="0F172A"/>
                </a:solidFill>
                <a:latin typeface="Georgia"/>
              </a:defRPr>
            </a:pPr>
            <a:r>
              <a:t>Dashboard Walkthrough: Pre-Audit Claims Simulator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43000"/>
            <a:ext cx="1081735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554480"/>
            <a:ext cx="43891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38404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550" b="1">
                <a:solidFill>
                  <a:srgbClr val="0F172A"/>
                </a:solidFill>
                <a:latin typeface="Calibri"/>
              </a:defRPr>
            </a:pPr>
            <a:r>
              <a:t>Pre-Audit Claims Simulator Details:</a:t>
            </a:r>
          </a:p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  <a:latin typeface="Calibri"/>
              </a:defRPr>
            </a:pPr>
            <a:r>
              <a:t>• Real-Time Model B Predictions:</a:t>
            </a:r>
          </a:p>
          <a:p>
            <a:pPr>
              <a:spcAft>
                <a:spcPts val="120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t>   Staff input demographics and claim features to instantly check prediction outcomes (Paid, Pending, Rejected) and probability distributions.</a:t>
            </a:r>
          </a:p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  <a:latin typeface="Calibri"/>
              </a:defRPr>
            </a:pPr>
            <a:r>
              <a:t>• Pre-Submission Auditing:</a:t>
            </a:r>
          </a:p>
          <a:p>
            <a:pPr>
              <a:spcAft>
                <a:spcPts val="120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t>   Allows testing changes to variables (Billed Amount, Insurer, Coding Flags) to see if predicted rejection risk decreases.</a:t>
            </a:r>
          </a:p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  <a:latin typeface="Calibri"/>
              </a:defRPr>
            </a:pPr>
            <a:r>
              <a:t>• Operationalizing Financial ML:</a:t>
            </a:r>
          </a:p>
          <a:p>
            <a:pPr>
              <a:spcAft>
                <a:spcPts val="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t>   Provides billing staff with model-driven guidance, directly protecting revenue.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57800" y="1554480"/>
            <a:ext cx="626364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simulator_outcome_17825742242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240" y="1645920"/>
            <a:ext cx="6080760" cy="33832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49240" y="5074920"/>
            <a:ext cx="6080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i="1">
                <a:solidFill>
                  <a:srgbClr val="64748B"/>
                </a:solidFill>
              </a:defRPr>
            </a:pPr>
            <a:r>
              <a:t>Screenshot: Pre-Audit claim rejection simulator showing low risk result for corrected billed claim.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1735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B365D"/>
                </a:solidFill>
                <a:latin typeface="Calibri"/>
              </a:defRPr>
            </a:pPr>
            <a:r>
              <a:t>PHASE 5 DEPLOYMENT — REVENUE LEAKAGE &amp; CASH FLOW KPIS</a:t>
            </a:r>
          </a:p>
          <a:p>
            <a:pPr>
              <a:defRPr sz="2500" b="1">
                <a:solidFill>
                  <a:srgbClr val="0F172A"/>
                </a:solidFill>
                <a:latin typeface="Georgia"/>
              </a:defRPr>
            </a:pPr>
            <a:r>
              <a:t>Dashboard Walkthrough: Insurer Settlement Performance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43000"/>
            <a:ext cx="1081735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554480"/>
            <a:ext cx="43891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38404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550" b="1">
                <a:solidFill>
                  <a:srgbClr val="0F172A"/>
                </a:solidFill>
                <a:latin typeface="Calibri"/>
              </a:defRPr>
            </a:pPr>
            <a:r>
              <a:t>Delayed Payments Dashboard Details:</a:t>
            </a:r>
          </a:p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  <a:latin typeface="Calibri"/>
              </a:defRPr>
            </a:pPr>
            <a:r>
              <a:t>• Billed-vs-Approved Leakage:</a:t>
            </a:r>
          </a:p>
          <a:p>
            <a:pPr>
              <a:spcAft>
                <a:spcPts val="120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t>   Monitors leakage gap (25.8% overall, total leakage ₹13.46 Cr) to identify areas for billing improvement.</a:t>
            </a:r>
          </a:p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  <a:latin typeface="Calibri"/>
              </a:defRPr>
            </a:pPr>
            <a:r>
              <a:t>• Days Sales Outstanding (DSO):</a:t>
            </a:r>
          </a:p>
          <a:p>
            <a:pPr>
              <a:spcAft>
                <a:spcPts val="120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t>   Tracks settlement times per provider (avg 13.0 days), showing which insurers require billing optimizations.</a:t>
            </a:r>
          </a:p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  <a:latin typeface="Calibri"/>
              </a:defRPr>
            </a:pPr>
            <a:r>
              <a:t>• Pending Claims Backlog Tracker:</a:t>
            </a:r>
          </a:p>
          <a:p>
            <a:pPr>
              <a:spcAft>
                <a:spcPts val="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t>   Summarizes pending claim counts (6,263 claims, ₹12.77 Cr) to help financial teams focus recovery efforts.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57800" y="1554480"/>
            <a:ext cx="626364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delayed_payments_tab_178257424475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240" y="1645920"/>
            <a:ext cx="6080760" cy="33832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49240" y="5074920"/>
            <a:ext cx="6080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i="1">
                <a:solidFill>
                  <a:srgbClr val="64748B"/>
                </a:solidFill>
              </a:defRPr>
            </a:pPr>
            <a:r>
              <a:t>Screenshot: Delayed Payments tab showing dual-axis charts and insurer settlement rankings.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1735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B365D"/>
                </a:solidFill>
                <a:latin typeface="Calibri"/>
              </a:defRPr>
            </a:pPr>
            <a:r>
              <a:t>PHASE 5 DEPLOYMENT — VIDEO DEMONSTRATION</a:t>
            </a:r>
          </a:p>
          <a:p>
            <a:pPr>
              <a:defRPr sz="2500" b="1">
                <a:solidFill>
                  <a:srgbClr val="0F172A"/>
                </a:solidFill>
                <a:latin typeface="Georgia"/>
              </a:defRPr>
            </a:pPr>
            <a:r>
              <a:t>Interactive Dashboard Live Features Walkthrough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43000"/>
            <a:ext cx="1081735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554480"/>
            <a:ext cx="34747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737360"/>
            <a:ext cx="29260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  <a:latin typeface="Calibri"/>
              </a:defRPr>
            </a:pPr>
            <a:r>
              <a:t>Dashboard Live Features Video:</a:t>
            </a:r>
          </a:p>
          <a:p>
            <a:pPr>
              <a:spcAft>
                <a:spcPts val="200"/>
              </a:spcAft>
              <a:defRPr sz="1350" b="1">
                <a:solidFill>
                  <a:srgbClr val="0F172A"/>
                </a:solidFill>
                <a:latin typeface="Calibri"/>
              </a:defRPr>
            </a:pPr>
            <a:r>
              <a:t>• Tabbed Navigation Flow:</a:t>
            </a:r>
          </a:p>
          <a:p>
            <a:pPr>
              <a:spcAft>
                <a:spcPts val="10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   Cycles through Overview, Patient Flow, Revenue Leakage, Delayed Payments, Diagnostics, Tester, and Audit Logs.</a:t>
            </a:r>
          </a:p>
          <a:p>
            <a:pPr>
              <a:spcAft>
                <a:spcPts val="200"/>
              </a:spcAft>
              <a:defRPr sz="1350" b="1">
                <a:solidFill>
                  <a:srgbClr val="0F172A"/>
                </a:solidFill>
                <a:latin typeface="Calibri"/>
              </a:defRPr>
            </a:pPr>
            <a:r>
              <a:t>• Interactive Claims Simulator:</a:t>
            </a:r>
          </a:p>
          <a:p>
            <a:pPr>
              <a:spcAft>
                <a:spcPts val="10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   Demonstrates filling out the pre-audit claims form with financial variables and running the live risk prediction.</a:t>
            </a:r>
          </a:p>
          <a:p>
            <a:pPr>
              <a:spcAft>
                <a:spcPts val="200"/>
              </a:spcAft>
              <a:defRPr sz="1350" b="1">
                <a:solidFill>
                  <a:srgbClr val="0F172A"/>
                </a:solidFill>
                <a:latin typeface="Calibri"/>
              </a:defRPr>
            </a:pPr>
            <a:r>
              <a:t>• Dynamic SQL Metrics &amp; Charts:</a:t>
            </a:r>
          </a:p>
          <a:p>
            <a:pPr>
              <a:spcAft>
                <a:spcPts val="14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   Showcases animated Chart.js graphs mapping departmental stays, realization gaps, and insurer settlement speeds.</a:t>
            </a:r>
          </a:p>
          <a:p>
            <a:pPr>
              <a:spcAft>
                <a:spcPts val="300"/>
              </a:spcAft>
              <a:defRPr sz="1300" b="1">
                <a:solidFill>
                  <a:srgbClr val="0D9488"/>
                </a:solidFill>
                <a:latin typeface="Calibri"/>
              </a:defRPr>
            </a:pPr>
            <a:r>
              <a:t>▶️ How to Play:</a:t>
            </a:r>
          </a:p>
          <a:p>
            <a:pPr>
              <a:spcAft>
                <a:spcPts val="0"/>
              </a:spcAft>
              <a:defRPr sz="1250" b="0">
                <a:solidFill>
                  <a:srgbClr val="334155"/>
                </a:solidFill>
                <a:latin typeface="Calibri"/>
              </a:defRPr>
            </a:pPr>
            <a:r>
              <a:t>   Click on the video frame on the right and click Play in PowerPoint to watch the walkthrough recording.</a:t>
            </a:r>
          </a:p>
        </p:txBody>
      </p:sp>
      <p:pic>
        <p:nvPicPr>
          <p:cNvPr id="8" name="dashboard_demo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434840" y="1645920"/>
            <a:ext cx="6995160" cy="39319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434840" y="5971032"/>
            <a:ext cx="6995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64748B"/>
                </a:solidFill>
              </a:defRPr>
            </a:pPr>
            <a:r>
              <a:rPr dirty="0"/>
              <a:t>Interactive Playable Video: Live dashboard feature walkthrough demonstration.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1735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B365D"/>
                </a:solidFill>
                <a:latin typeface="Calibri"/>
              </a:defRPr>
            </a:pPr>
            <a:r>
              <a:t>DEPLOYMENT ARCHITECTURE &amp; LONG-TERM SCALING PLAN</a:t>
            </a:r>
          </a:p>
          <a:p>
            <a:pPr>
              <a:defRPr sz="2500" b="1">
                <a:solidFill>
                  <a:srgbClr val="0F172A"/>
                </a:solidFill>
                <a:latin typeface="Georgia"/>
              </a:defRPr>
            </a:pPr>
            <a:r>
              <a:t>Containerized Deployment &amp; Scaling Strategy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43000"/>
            <a:ext cx="1081735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35508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457200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550" b="1">
                <a:solidFill>
                  <a:srgbClr val="0F172A"/>
                </a:solidFill>
                <a:latin typeface="Calibri"/>
              </a:defRPr>
            </a:pPr>
            <a:r>
              <a:rPr dirty="0"/>
              <a:t>Containerized Stack &amp; Production Setup:</a:t>
            </a:r>
          </a:p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  <a:latin typeface="Calibri"/>
              </a:defRPr>
            </a:pPr>
            <a:r>
              <a:rPr dirty="0"/>
              <a:t>• Production Containerization (Docker):</a:t>
            </a:r>
          </a:p>
          <a:p>
            <a:pPr>
              <a:spcAft>
                <a:spcPts val="1200"/>
              </a:spcAft>
              <a:defRPr sz="1250" b="0">
                <a:solidFill>
                  <a:srgbClr val="64748B"/>
                </a:solidFill>
                <a:latin typeface="Calibri"/>
              </a:defRPr>
            </a:pPr>
            <a:r>
              <a:rPr dirty="0"/>
              <a:t>   Encapsulates </a:t>
            </a:r>
            <a:r>
              <a:rPr dirty="0" err="1"/>
              <a:t>FastAPI</a:t>
            </a:r>
            <a:r>
              <a:rPr dirty="0"/>
              <a:t>, MySQL connectors, models, and libraries into a lightweight Docker image, ensuring identical behavior across dev and cloud.</a:t>
            </a:r>
          </a:p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  <a:latin typeface="Calibri"/>
              </a:defRPr>
            </a:pPr>
            <a:r>
              <a:rPr dirty="0"/>
              <a:t>• Dynamic Port Mapping &amp; Network:</a:t>
            </a:r>
          </a:p>
          <a:p>
            <a:pPr>
              <a:spcAft>
                <a:spcPts val="1200"/>
              </a:spcAft>
              <a:defRPr sz="1250" b="0">
                <a:solidFill>
                  <a:srgbClr val="64748B"/>
                </a:solidFill>
                <a:latin typeface="Calibri"/>
              </a:defRPr>
            </a:pPr>
            <a:r>
              <a:rPr dirty="0"/>
              <a:t>   Maps port 8000 to the host network. Links to local or cloud MySQL instances via encrypted connection strings.</a:t>
            </a:r>
          </a:p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  <a:latin typeface="Calibri"/>
              </a:defRPr>
            </a:pPr>
            <a:r>
              <a:rPr dirty="0"/>
              <a:t>• CLI Scripts for Orchestration:</a:t>
            </a:r>
          </a:p>
          <a:p>
            <a:pPr>
              <a:spcAft>
                <a:spcPts val="0"/>
              </a:spcAft>
              <a:defRPr sz="1250" b="0">
                <a:solidFill>
                  <a:srgbClr val="64748B"/>
                </a:solidFill>
                <a:latin typeface="Calibri"/>
              </a:defRPr>
            </a:pPr>
            <a:r>
              <a:rPr dirty="0"/>
              <a:t>   Scripts like 'build_features.py' and 'drift_detection.py' run in automated </a:t>
            </a:r>
            <a:r>
              <a:rPr dirty="0" err="1"/>
              <a:t>cron</a:t>
            </a:r>
            <a:r>
              <a:rPr dirty="0"/>
              <a:t> jobs.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1828800"/>
            <a:ext cx="457200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550" b="1">
                <a:solidFill>
                  <a:srgbClr val="0F172A"/>
                </a:solidFill>
                <a:latin typeface="Calibri"/>
              </a:defRPr>
            </a:pPr>
            <a:r>
              <a:t>Long-Term Staging &amp; Scaling Plan:</a:t>
            </a:r>
          </a:p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  <a:latin typeface="Calibri"/>
              </a:defRPr>
            </a:pPr>
            <a:r>
              <a:t>• Pilot Facility Deployment (3 Months):</a:t>
            </a:r>
          </a:p>
          <a:p>
            <a:pPr>
              <a:spcAft>
                <a:spcPts val="300"/>
              </a:spcAft>
              <a:defRPr sz="1250" b="0">
                <a:solidFill>
                  <a:srgbClr val="64748B"/>
                </a:solidFill>
                <a:latin typeface="Calibri"/>
              </a:defRPr>
            </a:pPr>
            <a:r>
              <a:t>   - Launch the platform at a single regional facility to gather feedback.</a:t>
            </a:r>
          </a:p>
          <a:p>
            <a:pPr>
              <a:spcAft>
                <a:spcPts val="1200"/>
              </a:spcAft>
              <a:defRPr sz="1250" b="0">
                <a:solidFill>
                  <a:srgbClr val="64748B"/>
                </a:solidFill>
                <a:latin typeface="Calibri"/>
              </a:defRPr>
            </a:pPr>
            <a:r>
              <a:t>   - Measure true financial ROI and clinical bed optimization against a control group.</a:t>
            </a:r>
          </a:p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  <a:latin typeface="Calibri"/>
              </a:defRPr>
            </a:pPr>
            <a:r>
              <a:t>• Automated Pre-Submission Intercept:</a:t>
            </a:r>
          </a:p>
          <a:p>
            <a:pPr>
              <a:spcAft>
                <a:spcPts val="300"/>
              </a:spcAft>
              <a:defRPr sz="1250" b="0">
                <a:solidFill>
                  <a:srgbClr val="64748B"/>
                </a:solidFill>
                <a:latin typeface="Calibri"/>
              </a:defRPr>
            </a:pPr>
            <a:r>
              <a:t>   - Integrate Model B directly into the hospital billing software.</a:t>
            </a:r>
          </a:p>
          <a:p>
            <a:pPr>
              <a:spcAft>
                <a:spcPts val="1200"/>
              </a:spcAft>
              <a:defRPr sz="1250" b="0">
                <a:solidFill>
                  <a:srgbClr val="64748B"/>
                </a:solidFill>
                <a:latin typeface="Calibri"/>
              </a:defRPr>
            </a:pPr>
            <a:r>
              <a:t>   - Claims predicted as Rejected will automatically block submission, flagging errors for review.</a:t>
            </a:r>
          </a:p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  <a:latin typeface="Calibri"/>
              </a:defRPr>
            </a:pPr>
            <a:r>
              <a:t>• Auto-Retraining Trigger Integration:</a:t>
            </a:r>
          </a:p>
          <a:p>
            <a:pPr>
              <a:spcAft>
                <a:spcPts val="0"/>
              </a:spcAft>
              <a:defRPr sz="1250" b="0">
                <a:solidFill>
                  <a:srgbClr val="64748B"/>
                </a:solidFill>
                <a:latin typeface="Calibri"/>
              </a:defRPr>
            </a:pPr>
            <a:r>
              <a:t>   - Connect drift alerts to pipelines, keeping model weights updated without manual steps.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85800" y="2011680"/>
            <a:ext cx="73152" cy="2743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4600" b="1">
                <a:solidFill>
                  <a:srgbClr val="FFFFFF"/>
                </a:solidFill>
                <a:latin typeface="Georgia"/>
              </a:defRPr>
            </a:pPr>
            <a:r>
              <a:t>THANK YOU</a:t>
            </a:r>
          </a:p>
          <a:p>
            <a:pPr>
              <a:spcAft>
                <a:spcPts val="2000"/>
              </a:spcAft>
              <a:defRPr sz="1800" b="1">
                <a:solidFill>
                  <a:srgbClr val="0D9488"/>
                </a:solidFill>
                <a:latin typeface="Calibri"/>
              </a:defRPr>
            </a:pPr>
            <a:r>
              <a:t>Hospital Operations &amp; Revenue Risk Intelligence Platform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Questions &amp; Feedback | IIT Madras Capstone Grading Review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2761</Words>
  <Application>Microsoft Office PowerPoint</Application>
  <PresentationFormat>Widescreen</PresentationFormat>
  <Paragraphs>295</Paragraphs>
  <Slides>18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Yuvaraju D</cp:lastModifiedBy>
  <cp:revision>4</cp:revision>
  <dcterms:created xsi:type="dcterms:W3CDTF">2013-01-27T09:14:16Z</dcterms:created>
  <dcterms:modified xsi:type="dcterms:W3CDTF">2026-06-27T16:25:50Z</dcterms:modified>
  <cp:category/>
</cp:coreProperties>
</file>